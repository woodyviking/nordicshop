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Utgångsläget" id="{6332923d-e375-6949-f129-b055e07f7761}">
          <p14:sldIdLst>
            <p14:sldId id="256"/>
            <p14:sldId id="257"/>
          </p14:sldIdLst>
        </p14:section>
        <p14:section name="Vår lösning" id="{3470095f-e5d7-3a93-5ad7-878915733d07}">
          <p14:sldIdLst>
            <p14:sldId id="258"/>
            <p14:sldId id="259"/>
            <p14:sldId id="260"/>
          </p14:sldIdLst>
        </p14:section>
        <p14:section name="Förändringen" id="{1c657c2c-b668-7a74-8257-5e51e0cb8be8}">
          <p14:sldIdLst>
            <p14:sldId id="261"/>
            <p14:sldId id="26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har tittat på en vanlig situation: tre team behöver samma testmiljö samtidigt. Jag går igenom utgångsläget, hur vi prioriterade och planerade veckan, och vad testledaren gör när en deployment misslyckas. Ungefär fem minuter.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 team, tre olika builds, samma miljö. Team A och C har release om en vecka, Team B om fyra. Alla vill ha miljön måndag till onsdag, men den kan bara ha en stabil version åt gången. Vi måste alltså välja ordning.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 vägde fem faktorer. Betalning går först: fungerar inte betalningen kan ingen handla, och Payment Provider TEST är ett externt beroende vi inte kontrollerar. Order och lager har också release om en vecka och är kärnverksamhet. Kundprofil har fyra veckor kvar och kan göra mycket utan SYS, så den får vänta.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Team A får måndag och tisdag, Team C onsdag och torsdag, Team B fredag. Miljön byggs om mellan teamen på kvällen, så ingen testtid går förlorad. Efter varje deployment körs ett smoke test med fem kontroller innan teamet släpps 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Alla team, projektledaren, DevOps och vid behov leverantörerna får miljöplanen. Det ska vara tydligt vem som fattar beslut. Av riskerna oroar oss tre mest: att en deployment misslyckas, att vi bara har en build åt gången och att betalningsleverantörens testmiljö går ner. Den första inträffar faktiskt i nästa 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Tisdag morgon misslyckas deploymenten och miljön är borta i fyra timmar. Team A kan inte testa, och Team C står och väntar. Vad gör testledaren?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Först stoppar vi Team A och eskalerar direkt. När miljön kommer tillbaka kör vi smoke test innan någon släpps in. Team A fortsätter i första hand, men Team C får luckan om A inte kan köra. Båda releaserna är nu utsatta, så planen justeras tillsammans med projektledaren. Till projektledaren rapporterar vi läget, risken, vilka beslut som behövs och när nästa uppdatering kommer. Tack!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ONLY_LIGHT">
    <p:bg>
      <p:bgPr>
        <a:solidFill>
          <a:schemeClr val="bg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_ONLY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82296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BLANK_DARK">
    <p:bg>
      <p:bgPr>
        <a:solidFill>
          <a:schemeClr val="tx1"/>
        </a:solidFill>
      </p:bgPr>
    </p:bg>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BLANK_ACCENT">
    <p:bg>
      <p:bgPr>
        <a:solidFill>
          <a:schemeClr val="accent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828800"/>
            <a:ext cx="10911535" cy="365760"/>
          </a:xfrm>
          <a:prstGeom prst="rect">
            <a:avLst/>
          </a:prstGeom>
          <a:noFill/>
          <a:ln/>
        </p:spPr>
        <p:txBody>
          <a:bodyPr wrap="square" lIns="0" tIns="0" rIns="0" bIns="0" rtlCol="0" anchor="t"/>
          <a:lstStyle/>
          <a:p>
            <a:pPr indent="0" marL="0">
              <a:buNone/>
            </a:pPr>
            <a:r>
              <a:rPr lang="en-US" sz="1600" b="1" spc="400" kern="0" dirty="0">
                <a:solidFill>
                  <a:srgbClr val="E89A55"/>
                </a:solidFill>
              </a:rPr>
              <a:t>NORDICSHOP · WORKSHOP 9</a:t>
            </a:r>
            <a:endParaRPr lang="en-US" sz="1600" dirty="0"/>
          </a:p>
        </p:txBody>
      </p:sp>
      <p:sp>
        <p:nvSpPr>
          <p:cNvPr id="3" name="Text 1"/>
          <p:cNvSpPr txBox="1"/>
          <p:nvPr/>
        </p:nvSpPr>
        <p:spPr>
          <a:xfrm>
            <a:off x="640080" y="2331720"/>
            <a:ext cx="10911535" cy="1188720"/>
          </a:xfrm>
          <a:prstGeom prst="rect">
            <a:avLst/>
          </a:prstGeom>
          <a:noFill/>
          <a:ln/>
        </p:spPr>
        <p:txBody>
          <a:bodyPr wrap="square" lIns="0" tIns="0" rIns="0" bIns="0" rtlCol="0" anchor="t"/>
          <a:lstStyle/>
          <a:p>
            <a:pPr indent="0" marL="0">
              <a:buNone/>
            </a:pPr>
            <a:r>
              <a:rPr lang="en-US" sz="6000" b="1" dirty="0">
                <a:solidFill>
                  <a:schemeClr val="bg1"/>
                </a:solidFill>
              </a:rPr>
              <a:t>Tre team, en testmiljö</a:t>
            </a:r>
            <a:endParaRPr lang="en-US" sz="6000" dirty="0"/>
          </a:p>
        </p:txBody>
      </p:sp>
      <p:sp>
        <p:nvSpPr>
          <p:cNvPr id="4" name="Text 2"/>
          <p:cNvSpPr txBox="1"/>
          <p:nvPr/>
        </p:nvSpPr>
        <p:spPr>
          <a:xfrm>
            <a:off x="640080" y="3657600"/>
            <a:ext cx="8229600" cy="914400"/>
          </a:xfrm>
          <a:prstGeom prst="rect">
            <a:avLst/>
          </a:prstGeom>
          <a:noFill/>
          <a:ln/>
        </p:spPr>
        <p:txBody>
          <a:bodyPr wrap="square" lIns="0" tIns="0" rIns="0" bIns="0" rtlCol="0" anchor="t"/>
          <a:lstStyle/>
          <a:p>
            <a:pPr indent="0" marL="0">
              <a:buNone/>
            </a:pPr>
            <a:r>
              <a:rPr lang="en-US" sz="2200" dirty="0">
                <a:solidFill>
                  <a:srgbClr val="BFCAD6"/>
                </a:solidFill>
              </a:rPr>
              <a:t>Hur vi prioriterar, planerar och agerar när SYS inte räcker till alla</a:t>
            </a:r>
            <a:endParaRPr lang="en-US" sz="2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822960"/>
          </a:xfrm>
          <a:prstGeom prst="rect">
            <a:avLst/>
          </a:prstGeom>
          <a:noFill/>
          <a:ln/>
        </p:spPr>
        <p:txBody>
          <a:bodyPr wrap="square" lIns="0" tIns="0" rIns="0" bIns="0" rtlCol="0" anchor="t"/>
          <a:lstStyle/>
          <a:p>
            <a:pPr algn="l" indent="0" marL="0">
              <a:buNone/>
            </a:pPr>
            <a:r>
              <a:rPr lang="en-US" sz="3600" b="1" dirty="0">
                <a:solidFill>
                  <a:schemeClr val="tx1"/>
                </a:solidFill>
              </a:rPr>
              <a:t>Utgångsläget</a:t>
            </a:r>
            <a:endParaRPr lang="en-US" sz="3600" dirty="0"/>
          </a:p>
        </p:txBody>
      </p:sp>
      <p:sp>
        <p:nvSpPr>
          <p:cNvPr id="3" name="card-TEAM A"/>
          <p:cNvSpPr/>
          <p:nvPr/>
        </p:nvSpPr>
        <p:spPr>
          <a:xfrm>
            <a:off x="640080" y="1508760"/>
            <a:ext cx="3454298" cy="3200400"/>
          </a:xfrm>
          <a:prstGeom prst="roundRect">
            <a:avLst>
              <a:gd name="adj" fmla="val 3429"/>
            </a:avLst>
          </a:prstGeom>
          <a:solidFill>
            <a:schemeClr val="bg1"/>
          </a:solidFill>
          <a:ln/>
          <a:effectLst>
            <a:outerShdw sx="100000" sy="100000" kx="0" ky="0" algn="bl" rotWithShape="0" blurRad="76200" dist="25400" dir="5400000">
              <a:srgbClr val="1E2A38">
                <a:alpha val="12000"/>
              </a:srgbClr>
            </a:outerShdw>
          </a:effectLst>
        </p:spPr>
      </p:sp>
      <p:sp>
        <p:nvSpPr>
          <p:cNvPr id="4" name="Shape 2"/>
          <p:cNvSpPr/>
          <p:nvPr/>
        </p:nvSpPr>
        <p:spPr>
          <a:xfrm>
            <a:off x="960120" y="1828800"/>
            <a:ext cx="502920" cy="502920"/>
          </a:xfrm>
          <a:prstGeom prst="ellipse">
            <a:avLst/>
          </a:prstGeom>
          <a:solidFill>
            <a:schemeClr val="accent1"/>
          </a:solidFill>
          <a:ln/>
        </p:spPr>
      </p:sp>
      <p:sp>
        <p:nvSpPr>
          <p:cNvPr id="5" name="Text 3"/>
          <p:cNvSpPr txBox="1"/>
          <p:nvPr/>
        </p:nvSpPr>
        <p:spPr>
          <a:xfrm>
            <a:off x="960120" y="18288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A</a:t>
            </a:r>
            <a:endParaRPr lang="en-US" sz="2000" dirty="0"/>
          </a:p>
        </p:txBody>
      </p:sp>
      <p:sp>
        <p:nvSpPr>
          <p:cNvPr id="6" name="Text 4"/>
          <p:cNvSpPr txBox="1"/>
          <p:nvPr/>
        </p:nvSpPr>
        <p:spPr>
          <a:xfrm>
            <a:off x="1600200" y="1920240"/>
            <a:ext cx="2265578" cy="320040"/>
          </a:xfrm>
          <a:prstGeom prst="rect">
            <a:avLst/>
          </a:prstGeom>
          <a:noFill/>
          <a:ln/>
        </p:spPr>
        <p:txBody>
          <a:bodyPr wrap="square" lIns="0" tIns="0" rIns="0" bIns="0" rtlCol="0" anchor="t"/>
          <a:lstStyle/>
          <a:p>
            <a:pPr indent="0" marL="0">
              <a:buNone/>
            </a:pPr>
            <a:r>
              <a:rPr lang="en-US" sz="1300" b="1" spc="200" kern="0" dirty="0">
                <a:solidFill>
                  <a:srgbClr val="2F6690"/>
                </a:solidFill>
              </a:rPr>
              <a:t>TEAM A</a:t>
            </a:r>
            <a:endParaRPr lang="en-US" sz="1300" dirty="0"/>
          </a:p>
        </p:txBody>
      </p:sp>
      <p:sp>
        <p:nvSpPr>
          <p:cNvPr id="7" name="Text 5"/>
          <p:cNvSpPr txBox="1"/>
          <p:nvPr/>
        </p:nvSpPr>
        <p:spPr>
          <a:xfrm>
            <a:off x="960120" y="2514600"/>
            <a:ext cx="2814218" cy="457200"/>
          </a:xfrm>
          <a:prstGeom prst="rect">
            <a:avLst/>
          </a:prstGeom>
          <a:noFill/>
          <a:ln/>
        </p:spPr>
        <p:txBody>
          <a:bodyPr wrap="square" lIns="0" tIns="0" rIns="0" bIns="0" rtlCol="0" anchor="t"/>
          <a:lstStyle/>
          <a:p>
            <a:pPr indent="0" marL="0">
              <a:buNone/>
            </a:pPr>
            <a:r>
              <a:rPr lang="en-US" sz="2400" b="1" dirty="0">
                <a:solidFill>
                  <a:schemeClr val="tx1"/>
                </a:solidFill>
              </a:rPr>
              <a:t>Betalning</a:t>
            </a:r>
            <a:endParaRPr lang="en-US" sz="2400" dirty="0"/>
          </a:p>
        </p:txBody>
      </p:sp>
      <p:sp>
        <p:nvSpPr>
          <p:cNvPr id="8" name="Text 6"/>
          <p:cNvSpPr txBox="1"/>
          <p:nvPr/>
        </p:nvSpPr>
        <p:spPr>
          <a:xfrm>
            <a:off x="960120" y="3063240"/>
            <a:ext cx="2814218" cy="548640"/>
          </a:xfrm>
          <a:prstGeom prst="rect">
            <a:avLst/>
          </a:prstGeom>
          <a:noFill/>
          <a:ln/>
        </p:spPr>
        <p:txBody>
          <a:bodyPr wrap="square" lIns="0" tIns="0" rIns="0" bIns="0" rtlCol="0" anchor="t"/>
          <a:lstStyle/>
          <a:p>
            <a:pPr indent="0" marL="0">
              <a:buNone/>
            </a:pPr>
            <a:r>
              <a:rPr lang="en-US" sz="1600" dirty="0">
                <a:solidFill>
                  <a:schemeClr val="tx2"/>
                </a:solidFill>
              </a:rPr>
              <a:t>SIT av kort och Swish</a:t>
            </a:r>
            <a:endParaRPr lang="en-US" sz="1600" dirty="0"/>
          </a:p>
        </p:txBody>
      </p:sp>
      <p:sp>
        <p:nvSpPr>
          <p:cNvPr id="9" name="Text 7"/>
          <p:cNvSpPr txBox="1"/>
          <p:nvPr/>
        </p:nvSpPr>
        <p:spPr>
          <a:xfrm>
            <a:off x="960120" y="3703320"/>
            <a:ext cx="2814218" cy="365760"/>
          </a:xfrm>
          <a:prstGeom prst="rect">
            <a:avLst/>
          </a:prstGeom>
          <a:noFill/>
          <a:ln/>
        </p:spPr>
        <p:txBody>
          <a:bodyPr wrap="square" lIns="0" tIns="0" rIns="0" bIns="0" rtlCol="0" anchor="t"/>
          <a:lstStyle/>
          <a:p>
            <a:pPr indent="0" marL="0">
              <a:buNone/>
            </a:pPr>
            <a:r>
              <a:rPr lang="en-US" sz="1600" b="1" dirty="0">
                <a:solidFill>
                  <a:schemeClr val="tx1"/>
                </a:solidFill>
              </a:rPr>
              <a:t>Release om 1 vecka</a:t>
            </a:r>
            <a:endParaRPr lang="en-US" sz="1600" dirty="0"/>
          </a:p>
        </p:txBody>
      </p:sp>
      <p:sp>
        <p:nvSpPr>
          <p:cNvPr id="10" name="Text 8"/>
          <p:cNvSpPr txBox="1"/>
          <p:nvPr/>
        </p:nvSpPr>
        <p:spPr>
          <a:xfrm>
            <a:off x="960120" y="4114800"/>
            <a:ext cx="2814218" cy="365760"/>
          </a:xfrm>
          <a:prstGeom prst="rect">
            <a:avLst/>
          </a:prstGeom>
          <a:noFill/>
          <a:ln/>
        </p:spPr>
        <p:txBody>
          <a:bodyPr wrap="square" lIns="0" tIns="0" rIns="0" bIns="0" rtlCol="0" anchor="t"/>
          <a:lstStyle/>
          <a:p>
            <a:pPr indent="0" marL="0">
              <a:buNone/>
            </a:pPr>
            <a:r>
              <a:rPr lang="en-US" sz="1400" dirty="0">
                <a:solidFill>
                  <a:schemeClr val="tx2"/>
                </a:solidFill>
              </a:rPr>
              <a:t>Beroende: Payment Provider TEST</a:t>
            </a:r>
            <a:endParaRPr lang="en-US" sz="1400" dirty="0"/>
          </a:p>
        </p:txBody>
      </p:sp>
      <p:sp>
        <p:nvSpPr>
          <p:cNvPr id="11" name="card-TEAM B"/>
          <p:cNvSpPr/>
          <p:nvPr/>
        </p:nvSpPr>
        <p:spPr>
          <a:xfrm>
            <a:off x="4368698" y="1508760"/>
            <a:ext cx="3454298" cy="3200400"/>
          </a:xfrm>
          <a:prstGeom prst="roundRect">
            <a:avLst>
              <a:gd name="adj" fmla="val 3429"/>
            </a:avLst>
          </a:prstGeom>
          <a:solidFill>
            <a:schemeClr val="bg1"/>
          </a:solidFill>
          <a:ln/>
          <a:effectLst>
            <a:outerShdw sx="100000" sy="100000" kx="0" ky="0" algn="bl" rotWithShape="0" blurRad="76200" dist="25400" dir="5400000">
              <a:srgbClr val="1E2A38">
                <a:alpha val="12000"/>
              </a:srgbClr>
            </a:outerShdw>
          </a:effectLst>
        </p:spPr>
      </p:sp>
      <p:sp>
        <p:nvSpPr>
          <p:cNvPr id="12" name="Shape 10"/>
          <p:cNvSpPr/>
          <p:nvPr/>
        </p:nvSpPr>
        <p:spPr>
          <a:xfrm>
            <a:off x="4688738" y="1828800"/>
            <a:ext cx="502920" cy="502920"/>
          </a:xfrm>
          <a:prstGeom prst="ellipse">
            <a:avLst/>
          </a:prstGeom>
          <a:solidFill>
            <a:schemeClr val="accent3"/>
          </a:solidFill>
          <a:ln/>
        </p:spPr>
      </p:sp>
      <p:sp>
        <p:nvSpPr>
          <p:cNvPr id="13" name="Text 11"/>
          <p:cNvSpPr txBox="1"/>
          <p:nvPr/>
        </p:nvSpPr>
        <p:spPr>
          <a:xfrm>
            <a:off x="4688738" y="18288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B</a:t>
            </a:r>
            <a:endParaRPr lang="en-US" sz="2000" dirty="0"/>
          </a:p>
        </p:txBody>
      </p:sp>
      <p:sp>
        <p:nvSpPr>
          <p:cNvPr id="14" name="Text 12"/>
          <p:cNvSpPr txBox="1"/>
          <p:nvPr/>
        </p:nvSpPr>
        <p:spPr>
          <a:xfrm>
            <a:off x="5328818" y="1920240"/>
            <a:ext cx="2265578" cy="320040"/>
          </a:xfrm>
          <a:prstGeom prst="rect">
            <a:avLst/>
          </a:prstGeom>
          <a:noFill/>
          <a:ln/>
        </p:spPr>
        <p:txBody>
          <a:bodyPr wrap="square" lIns="0" tIns="0" rIns="0" bIns="0" rtlCol="0" anchor="t"/>
          <a:lstStyle/>
          <a:p>
            <a:pPr indent="0" marL="0">
              <a:buNone/>
            </a:pPr>
            <a:r>
              <a:rPr lang="en-US" sz="1300" b="1" spc="200" kern="0" dirty="0">
                <a:solidFill>
                  <a:srgbClr val="6B6157"/>
                </a:solidFill>
              </a:rPr>
              <a:t>TEAM B</a:t>
            </a:r>
            <a:endParaRPr lang="en-US" sz="1300" dirty="0"/>
          </a:p>
        </p:txBody>
      </p:sp>
      <p:sp>
        <p:nvSpPr>
          <p:cNvPr id="15" name="Text 13"/>
          <p:cNvSpPr txBox="1"/>
          <p:nvPr/>
        </p:nvSpPr>
        <p:spPr>
          <a:xfrm>
            <a:off x="4688738" y="2514600"/>
            <a:ext cx="2814218" cy="457200"/>
          </a:xfrm>
          <a:prstGeom prst="rect">
            <a:avLst/>
          </a:prstGeom>
          <a:noFill/>
          <a:ln/>
        </p:spPr>
        <p:txBody>
          <a:bodyPr wrap="square" lIns="0" tIns="0" rIns="0" bIns="0" rtlCol="0" anchor="t"/>
          <a:lstStyle/>
          <a:p>
            <a:pPr indent="0" marL="0">
              <a:buNone/>
            </a:pPr>
            <a:r>
              <a:rPr lang="en-US" sz="2400" b="1" dirty="0">
                <a:solidFill>
                  <a:schemeClr val="tx1"/>
                </a:solidFill>
              </a:rPr>
              <a:t>Kundprofil</a:t>
            </a:r>
            <a:endParaRPr lang="en-US" sz="2400" dirty="0"/>
          </a:p>
        </p:txBody>
      </p:sp>
      <p:sp>
        <p:nvSpPr>
          <p:cNvPr id="16" name="Text 14"/>
          <p:cNvSpPr txBox="1"/>
          <p:nvPr/>
        </p:nvSpPr>
        <p:spPr>
          <a:xfrm>
            <a:off x="4688738" y="3063240"/>
            <a:ext cx="2814218" cy="548640"/>
          </a:xfrm>
          <a:prstGeom prst="rect">
            <a:avLst/>
          </a:prstGeom>
          <a:noFill/>
          <a:ln/>
        </p:spPr>
        <p:txBody>
          <a:bodyPr wrap="square" lIns="0" tIns="0" rIns="0" bIns="0" rtlCol="0" anchor="t"/>
          <a:lstStyle/>
          <a:p>
            <a:pPr indent="0" marL="0">
              <a:buNone/>
            </a:pPr>
            <a:r>
              <a:rPr lang="en-US" sz="1600" dirty="0">
                <a:solidFill>
                  <a:schemeClr val="tx2"/>
                </a:solidFill>
              </a:rPr>
              <a:t>Systemtest av ny kundprofil</a:t>
            </a:r>
            <a:endParaRPr lang="en-US" sz="1600" dirty="0"/>
          </a:p>
        </p:txBody>
      </p:sp>
      <p:sp>
        <p:nvSpPr>
          <p:cNvPr id="17" name="Text 15"/>
          <p:cNvSpPr txBox="1"/>
          <p:nvPr/>
        </p:nvSpPr>
        <p:spPr>
          <a:xfrm>
            <a:off x="4688738" y="3703320"/>
            <a:ext cx="2814218" cy="365760"/>
          </a:xfrm>
          <a:prstGeom prst="rect">
            <a:avLst/>
          </a:prstGeom>
          <a:noFill/>
          <a:ln/>
        </p:spPr>
        <p:txBody>
          <a:bodyPr wrap="square" lIns="0" tIns="0" rIns="0" bIns="0" rtlCol="0" anchor="t"/>
          <a:lstStyle/>
          <a:p>
            <a:pPr indent="0" marL="0">
              <a:buNone/>
            </a:pPr>
            <a:r>
              <a:rPr lang="en-US" sz="1600" b="1" dirty="0">
                <a:solidFill>
                  <a:schemeClr val="tx1"/>
                </a:solidFill>
              </a:rPr>
              <a:t>Release om 4 veckor</a:t>
            </a:r>
            <a:endParaRPr lang="en-US" sz="1600" dirty="0"/>
          </a:p>
        </p:txBody>
      </p:sp>
      <p:sp>
        <p:nvSpPr>
          <p:cNvPr id="18" name="Text 16"/>
          <p:cNvSpPr txBox="1"/>
          <p:nvPr/>
        </p:nvSpPr>
        <p:spPr>
          <a:xfrm>
            <a:off x="4688738" y="4114800"/>
            <a:ext cx="2814218" cy="365760"/>
          </a:xfrm>
          <a:prstGeom prst="rect">
            <a:avLst/>
          </a:prstGeom>
          <a:noFill/>
          <a:ln/>
        </p:spPr>
        <p:txBody>
          <a:bodyPr wrap="square" lIns="0" tIns="0" rIns="0" bIns="0" rtlCol="0" anchor="t"/>
          <a:lstStyle/>
          <a:p>
            <a:pPr indent="0" marL="0">
              <a:buNone/>
            </a:pPr>
            <a:r>
              <a:rPr lang="en-US" sz="1400" dirty="0">
                <a:solidFill>
                  <a:schemeClr val="tx2"/>
                </a:solidFill>
              </a:rPr>
              <a:t>Beroende: kunddatabas</a:t>
            </a:r>
            <a:endParaRPr lang="en-US" sz="1400" dirty="0"/>
          </a:p>
        </p:txBody>
      </p:sp>
      <p:sp>
        <p:nvSpPr>
          <p:cNvPr id="19" name="card-TEAM C"/>
          <p:cNvSpPr/>
          <p:nvPr/>
        </p:nvSpPr>
        <p:spPr>
          <a:xfrm>
            <a:off x="8097317" y="1508760"/>
            <a:ext cx="3454298" cy="3200400"/>
          </a:xfrm>
          <a:prstGeom prst="roundRect">
            <a:avLst>
              <a:gd name="adj" fmla="val 3429"/>
            </a:avLst>
          </a:prstGeom>
          <a:solidFill>
            <a:schemeClr val="bg1"/>
          </a:solidFill>
          <a:ln/>
          <a:effectLst>
            <a:outerShdw sx="100000" sy="100000" kx="0" ky="0" algn="bl" rotWithShape="0" blurRad="76200" dist="25400" dir="5400000">
              <a:srgbClr val="1E2A38">
                <a:alpha val="12000"/>
              </a:srgbClr>
            </a:outerShdw>
          </a:effectLst>
        </p:spPr>
      </p:sp>
      <p:sp>
        <p:nvSpPr>
          <p:cNvPr id="20" name="Shape 18"/>
          <p:cNvSpPr/>
          <p:nvPr/>
        </p:nvSpPr>
        <p:spPr>
          <a:xfrm>
            <a:off x="8417357" y="1828800"/>
            <a:ext cx="502920" cy="502920"/>
          </a:xfrm>
          <a:prstGeom prst="ellipse">
            <a:avLst/>
          </a:prstGeom>
          <a:solidFill>
            <a:schemeClr val="accent2"/>
          </a:solidFill>
          <a:ln/>
        </p:spPr>
      </p:sp>
      <p:sp>
        <p:nvSpPr>
          <p:cNvPr id="21" name="Text 19"/>
          <p:cNvSpPr txBox="1"/>
          <p:nvPr/>
        </p:nvSpPr>
        <p:spPr>
          <a:xfrm>
            <a:off x="8417357" y="1828800"/>
            <a:ext cx="502920" cy="502920"/>
          </a:xfrm>
          <a:prstGeom prst="rect">
            <a:avLst/>
          </a:prstGeom>
          <a:noFill/>
          <a:ln/>
        </p:spPr>
        <p:txBody>
          <a:bodyPr wrap="square" lIns="0" tIns="0" rIns="0" bIns="0" rtlCol="0" anchor="ctr"/>
          <a:lstStyle/>
          <a:p>
            <a:pPr algn="ctr" indent="0" marL="0">
              <a:buNone/>
            </a:pPr>
            <a:r>
              <a:rPr lang="en-US" sz="2000" b="1" dirty="0">
                <a:solidFill>
                  <a:schemeClr val="bg1"/>
                </a:solidFill>
              </a:rPr>
              <a:t>C</a:t>
            </a:r>
            <a:endParaRPr lang="en-US" sz="2000" dirty="0"/>
          </a:p>
        </p:txBody>
      </p:sp>
      <p:sp>
        <p:nvSpPr>
          <p:cNvPr id="22" name="Text 20"/>
          <p:cNvSpPr txBox="1"/>
          <p:nvPr/>
        </p:nvSpPr>
        <p:spPr>
          <a:xfrm>
            <a:off x="9057437" y="1920240"/>
            <a:ext cx="2265578" cy="320040"/>
          </a:xfrm>
          <a:prstGeom prst="rect">
            <a:avLst/>
          </a:prstGeom>
          <a:noFill/>
          <a:ln/>
        </p:spPr>
        <p:txBody>
          <a:bodyPr wrap="square" lIns="0" tIns="0" rIns="0" bIns="0" rtlCol="0" anchor="t"/>
          <a:lstStyle/>
          <a:p>
            <a:pPr indent="0" marL="0">
              <a:buNone/>
            </a:pPr>
            <a:r>
              <a:rPr lang="en-US" sz="1300" b="1" spc="200" kern="0" dirty="0">
                <a:solidFill>
                  <a:srgbClr val="A8521A"/>
                </a:solidFill>
              </a:rPr>
              <a:t>TEAM C</a:t>
            </a:r>
            <a:endParaRPr lang="en-US" sz="1300" dirty="0"/>
          </a:p>
        </p:txBody>
      </p:sp>
      <p:sp>
        <p:nvSpPr>
          <p:cNvPr id="23" name="Text 21"/>
          <p:cNvSpPr txBox="1"/>
          <p:nvPr/>
        </p:nvSpPr>
        <p:spPr>
          <a:xfrm>
            <a:off x="8417357" y="2514600"/>
            <a:ext cx="2814218" cy="457200"/>
          </a:xfrm>
          <a:prstGeom prst="rect">
            <a:avLst/>
          </a:prstGeom>
          <a:noFill/>
          <a:ln/>
        </p:spPr>
        <p:txBody>
          <a:bodyPr wrap="square" lIns="0" tIns="0" rIns="0" bIns="0" rtlCol="0" anchor="t"/>
          <a:lstStyle/>
          <a:p>
            <a:pPr indent="0" marL="0">
              <a:buNone/>
            </a:pPr>
            <a:r>
              <a:rPr lang="en-US" sz="2400" b="1" dirty="0">
                <a:solidFill>
                  <a:schemeClr val="tx1"/>
                </a:solidFill>
              </a:rPr>
              <a:t>Order och lager</a:t>
            </a:r>
            <a:endParaRPr lang="en-US" sz="2400" dirty="0"/>
          </a:p>
        </p:txBody>
      </p:sp>
      <p:sp>
        <p:nvSpPr>
          <p:cNvPr id="24" name="Text 22"/>
          <p:cNvSpPr txBox="1"/>
          <p:nvPr/>
        </p:nvSpPr>
        <p:spPr>
          <a:xfrm>
            <a:off x="8417357" y="3063240"/>
            <a:ext cx="2814218" cy="548640"/>
          </a:xfrm>
          <a:prstGeom prst="rect">
            <a:avLst/>
          </a:prstGeom>
          <a:noFill/>
          <a:ln/>
        </p:spPr>
        <p:txBody>
          <a:bodyPr wrap="square" lIns="0" tIns="0" rIns="0" bIns="0" rtlCol="0" anchor="t"/>
          <a:lstStyle/>
          <a:p>
            <a:pPr indent="0" marL="0">
              <a:buNone/>
            </a:pPr>
            <a:r>
              <a:rPr lang="en-US" sz="1600" dirty="0">
                <a:solidFill>
                  <a:schemeClr val="tx2"/>
                </a:solidFill>
              </a:rPr>
              <a:t>Regression av order- och lagerflödet</a:t>
            </a:r>
            <a:endParaRPr lang="en-US" sz="1600" dirty="0"/>
          </a:p>
        </p:txBody>
      </p:sp>
      <p:sp>
        <p:nvSpPr>
          <p:cNvPr id="25" name="Text 23"/>
          <p:cNvSpPr txBox="1"/>
          <p:nvPr/>
        </p:nvSpPr>
        <p:spPr>
          <a:xfrm>
            <a:off x="8417357" y="3703320"/>
            <a:ext cx="2814218" cy="365760"/>
          </a:xfrm>
          <a:prstGeom prst="rect">
            <a:avLst/>
          </a:prstGeom>
          <a:noFill/>
          <a:ln/>
        </p:spPr>
        <p:txBody>
          <a:bodyPr wrap="square" lIns="0" tIns="0" rIns="0" bIns="0" rtlCol="0" anchor="t"/>
          <a:lstStyle/>
          <a:p>
            <a:pPr indent="0" marL="0">
              <a:buNone/>
            </a:pPr>
            <a:r>
              <a:rPr lang="en-US" sz="1600" b="1" dirty="0">
                <a:solidFill>
                  <a:schemeClr val="tx1"/>
                </a:solidFill>
              </a:rPr>
              <a:t>Release om 1 vecka</a:t>
            </a:r>
            <a:endParaRPr lang="en-US" sz="1600" dirty="0"/>
          </a:p>
        </p:txBody>
      </p:sp>
      <p:sp>
        <p:nvSpPr>
          <p:cNvPr id="26" name="Text 24"/>
          <p:cNvSpPr txBox="1"/>
          <p:nvPr/>
        </p:nvSpPr>
        <p:spPr>
          <a:xfrm>
            <a:off x="8417357" y="4114800"/>
            <a:ext cx="2814218" cy="365760"/>
          </a:xfrm>
          <a:prstGeom prst="rect">
            <a:avLst/>
          </a:prstGeom>
          <a:noFill/>
          <a:ln/>
        </p:spPr>
        <p:txBody>
          <a:bodyPr wrap="square" lIns="0" tIns="0" rIns="0" bIns="0" rtlCol="0" anchor="t"/>
          <a:lstStyle/>
          <a:p>
            <a:pPr indent="0" marL="0">
              <a:buNone/>
            </a:pPr>
            <a:r>
              <a:rPr lang="en-US" sz="1400" dirty="0">
                <a:solidFill>
                  <a:schemeClr val="tx2"/>
                </a:solidFill>
              </a:rPr>
              <a:t>Beroende: Inventory System</a:t>
            </a:r>
            <a:endParaRPr lang="en-US" sz="1400" dirty="0"/>
          </a:p>
        </p:txBody>
      </p:sp>
      <p:sp>
        <p:nvSpPr>
          <p:cNvPr id="27" name="Shape 25"/>
          <p:cNvSpPr/>
          <p:nvPr/>
        </p:nvSpPr>
        <p:spPr>
          <a:xfrm>
            <a:off x="640080" y="5120640"/>
            <a:ext cx="10911535" cy="868680"/>
          </a:xfrm>
          <a:prstGeom prst="roundRect">
            <a:avLst>
              <a:gd name="adj" fmla="val 10526"/>
            </a:avLst>
          </a:prstGeom>
          <a:solidFill>
            <a:schemeClr val="tx1"/>
          </a:solidFill>
          <a:ln/>
        </p:spPr>
      </p:sp>
      <p:sp>
        <p:nvSpPr>
          <p:cNvPr id="28" name="Text 26"/>
          <p:cNvSpPr txBox="1"/>
          <p:nvPr/>
        </p:nvSpPr>
        <p:spPr>
          <a:xfrm>
            <a:off x="960120" y="5120640"/>
            <a:ext cx="10271455" cy="868680"/>
          </a:xfrm>
          <a:prstGeom prst="rect">
            <a:avLst/>
          </a:prstGeom>
          <a:noFill/>
          <a:ln/>
        </p:spPr>
        <p:txBody>
          <a:bodyPr wrap="square" lIns="0" tIns="0" rIns="0" bIns="0" rtlCol="0" anchor="ctr"/>
          <a:lstStyle/>
          <a:p>
            <a:pPr indent="0" marL="0">
              <a:buNone/>
            </a:pPr>
            <a:r>
              <a:rPr lang="en-US" sz="2000" b="1" dirty="0">
                <a:solidFill>
                  <a:schemeClr val="bg1"/>
                </a:solidFill>
              </a:rPr>
              <a:t>Alla vill ha SYS måndag–onsdag, men miljön klarar bara en build åt gången.</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822960"/>
          </a:xfrm>
          <a:prstGeom prst="rect">
            <a:avLst/>
          </a:prstGeom>
          <a:noFill/>
          <a:ln/>
        </p:spPr>
        <p:txBody>
          <a:bodyPr wrap="square" lIns="0" tIns="0" rIns="0" bIns="0" rtlCol="0" anchor="t"/>
          <a:lstStyle/>
          <a:p>
            <a:pPr algn="l" indent="0" marL="0">
              <a:buNone/>
            </a:pPr>
            <a:r>
              <a:rPr lang="en-US" sz="3600" b="1" dirty="0">
                <a:solidFill>
                  <a:schemeClr val="tx1"/>
                </a:solidFill>
              </a:rPr>
              <a:t>Prioritering: A, sedan C, sist B</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10911535" cy="914400"/>
        </p:xfrm>
        <a:graphic>
          <a:graphicData uri="http://schemas.openxmlformats.org/drawingml/2006/table">
            <a:tbl>
              <a:tblPr/>
              <a:tblGrid>
                <a:gridCol w="914400"/>
                <a:gridCol w="2743200"/>
                <a:gridCol w="1645920"/>
                <a:gridCol w="5608015"/>
              </a:tblGrid>
              <a:tr h="685800">
                <a:tc>
                  <a:txBody>
                    <a:bodyPr/>
                    <a:lstStyle/>
                    <a:p>
                      <a:pPr indent="0" marL="0">
                        <a:buNone/>
                      </a:pPr>
                      <a:r>
                        <a:rPr lang="en-US" sz="1800" b="1" dirty="0">
                          <a:solidFill>
                            <a:schemeClr val="bg1"/>
                          </a:solidFill>
                        </a:rPr>
                        <a:t>Prio</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800" b="1" dirty="0">
                          <a:solidFill>
                            <a:schemeClr val="bg1"/>
                          </a:solidFill>
                        </a:rPr>
                        <a:t>Team</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800" b="1" dirty="0">
                          <a:solidFill>
                            <a:schemeClr val="bg1"/>
                          </a:solidFill>
                        </a:rPr>
                        <a:t>Release</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chemeClr val="tx1"/>
                    </a:solidFill>
                  </a:tcPr>
                </a:tc>
                <a:tc>
                  <a:txBody>
                    <a:bodyPr/>
                    <a:lstStyle/>
                    <a:p>
                      <a:pPr indent="0" marL="0">
                        <a:buNone/>
                      </a:pPr>
                      <a:r>
                        <a:rPr lang="en-US" sz="1800" b="1" dirty="0">
                          <a:solidFill>
                            <a:schemeClr val="bg1"/>
                          </a:solidFill>
                        </a:rPr>
                        <a:t>Varför</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chemeClr val="tx1"/>
                    </a:solidFill>
                  </a:tcPr>
                </a:tc>
              </a:tr>
              <a:tr h="685800">
                <a:tc>
                  <a:txBody>
                    <a:bodyPr/>
                    <a:lstStyle/>
                    <a:p>
                      <a:pPr indent="0" marL="0">
                        <a:buNone/>
                      </a:pPr>
                      <a:r>
                        <a:rPr lang="en-US" sz="1800" dirty="0">
                          <a:solidFill>
                            <a:schemeClr val="tx1"/>
                          </a:solidFill>
                        </a:rPr>
                        <a:t>1</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800" b="1" dirty="0">
                          <a:solidFill>
                            <a:schemeClr val="tx1"/>
                          </a:solidFill>
                        </a:rPr>
                        <a:t>A – Betalning</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800" dirty="0">
                          <a:solidFill>
                            <a:schemeClr val="tx1"/>
                          </a:solidFill>
                        </a:rPr>
                        <a:t>1 vecka</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800" dirty="0">
                          <a:solidFill>
                            <a:schemeClr val="tx1"/>
                          </a:solidFill>
                        </a:rPr>
                        <a:t>Intäktskritiskt. Externt beroende som vi inte styr över.</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r>
              <a:tr h="685800">
                <a:tc>
                  <a:txBody>
                    <a:bodyPr/>
                    <a:lstStyle/>
                    <a:p>
                      <a:pPr indent="0" marL="0">
                        <a:buNone/>
                      </a:pPr>
                      <a:r>
                        <a:rPr lang="en-US" sz="1800" dirty="0">
                          <a:solidFill>
                            <a:schemeClr val="tx1"/>
                          </a:solidFill>
                        </a:rPr>
                        <a:t>2</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EAE6DF"/>
                    </a:solidFill>
                  </a:tcPr>
                </a:tc>
                <a:tc>
                  <a:txBody>
                    <a:bodyPr/>
                    <a:lstStyle/>
                    <a:p>
                      <a:pPr indent="0" marL="0">
                        <a:buNone/>
                      </a:pPr>
                      <a:r>
                        <a:rPr lang="en-US" sz="1800" b="1" dirty="0">
                          <a:solidFill>
                            <a:schemeClr val="tx1"/>
                          </a:solidFill>
                        </a:rPr>
                        <a:t>C – Order och lager</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EAE6DF"/>
                    </a:solidFill>
                  </a:tcPr>
                </a:tc>
                <a:tc>
                  <a:txBody>
                    <a:bodyPr/>
                    <a:lstStyle/>
                    <a:p>
                      <a:pPr indent="0" marL="0">
                        <a:buNone/>
                      </a:pPr>
                      <a:r>
                        <a:rPr lang="en-US" sz="1800" dirty="0">
                          <a:solidFill>
                            <a:schemeClr val="tx1"/>
                          </a:solidFill>
                        </a:rPr>
                        <a:t>1 vecka</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EAE6DF"/>
                    </a:solidFill>
                  </a:tcPr>
                </a:tc>
                <a:tc>
                  <a:txBody>
                    <a:bodyPr/>
                    <a:lstStyle/>
                    <a:p>
                      <a:pPr indent="0" marL="0">
                        <a:buNone/>
                      </a:pPr>
                      <a:r>
                        <a:rPr lang="en-US" sz="1800" dirty="0">
                          <a:solidFill>
                            <a:schemeClr val="tx1"/>
                          </a:solidFill>
                        </a:rPr>
                        <a:t>Kärnflöde. Regressionen måste vara klar före release.</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EAE6DF"/>
                    </a:solidFill>
                  </a:tcPr>
                </a:tc>
              </a:tr>
              <a:tr h="685800">
                <a:tc>
                  <a:txBody>
                    <a:bodyPr/>
                    <a:lstStyle/>
                    <a:p>
                      <a:pPr indent="0" marL="0">
                        <a:buNone/>
                      </a:pPr>
                      <a:r>
                        <a:rPr lang="en-US" sz="1800" dirty="0">
                          <a:solidFill>
                            <a:schemeClr val="tx1"/>
                          </a:solidFill>
                        </a:rPr>
                        <a:t>3</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800" b="1" dirty="0">
                          <a:solidFill>
                            <a:schemeClr val="tx1"/>
                          </a:solidFill>
                        </a:rPr>
                        <a:t>B – Kundprofil</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800" dirty="0">
                          <a:solidFill>
                            <a:schemeClr val="tx1"/>
                          </a:solidFill>
                        </a:rPr>
                        <a:t>4 veckor</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c>
                  <a:txBody>
                    <a:bodyPr/>
                    <a:lstStyle/>
                    <a:p>
                      <a:pPr indent="0" marL="0">
                        <a:buNone/>
                      </a:pPr>
                      <a:r>
                        <a:rPr lang="en-US" sz="1800" dirty="0">
                          <a:solidFill>
                            <a:schemeClr val="tx1"/>
                          </a:solidFill>
                        </a:rPr>
                        <a:t>Inte intäktskritiskt. Kan förberedas utan SYS.</a:t>
                      </a:r>
                      <a:endParaRPr lang="en-US" sz="1800" dirty="0"/>
                    </a:p>
                  </a:txBody>
                  <a:tcPr marL="164592" marR="164592" marT="91440" marB="91440" anchor="ctr">
                    <a:lnL w="0" cap="flat" cmpd="sng" algn="ctr">
                      <a:noFill/>
                    </a:lnL>
                    <a:lnR w="0" cap="flat" cmpd="sng" algn="ctr">
                      <a:noFill/>
                    </a:lnR>
                    <a:lnT w="0" cap="flat" cmpd="sng" algn="ctr">
                      <a:noFill/>
                    </a:lnT>
                    <a:lnB w="0" cap="flat" cmpd="sng" algn="ctr">
                      <a:noFill/>
                    </a:lnB>
                    <a:solidFill>
                      <a:srgbClr val="FFFFFF"/>
                    </a:solidFill>
                  </a:tcPr>
                </a:tc>
              </a:tr>
            </a:tbl>
          </a:graphicData>
        </a:graphic>
      </p:graphicFrame>
      <p:sp>
        <p:nvSpPr>
          <p:cNvPr id="4" name="Shape 1"/>
          <p:cNvSpPr/>
          <p:nvPr/>
        </p:nvSpPr>
        <p:spPr>
          <a:xfrm>
            <a:off x="640080" y="5074920"/>
            <a:ext cx="457200" cy="457200"/>
          </a:xfrm>
          <a:prstGeom prst="ellipse">
            <a:avLst/>
          </a:prstGeom>
          <a:solidFill>
            <a:schemeClr val="accent1"/>
          </a:solidFill>
          <a:ln/>
        </p:spPr>
      </p:sp>
      <p:sp>
        <p:nvSpPr>
          <p:cNvPr id="5" name="Text 2"/>
          <p:cNvSpPr txBox="1"/>
          <p:nvPr/>
        </p:nvSpPr>
        <p:spPr>
          <a:xfrm>
            <a:off x="640080" y="5074920"/>
            <a:ext cx="457200" cy="457200"/>
          </a:xfrm>
          <a:prstGeom prst="rect">
            <a:avLst/>
          </a:prstGeom>
          <a:noFill/>
          <a:ln/>
        </p:spPr>
        <p:txBody>
          <a:bodyPr wrap="square" lIns="0" tIns="0" rIns="0" bIns="0" rtlCol="0" anchor="ctr"/>
          <a:lstStyle/>
          <a:p>
            <a:pPr algn="ctr" indent="0" marL="0">
              <a:buNone/>
            </a:pPr>
            <a:r>
              <a:rPr lang="en-US" sz="1800" b="1" i="1" dirty="0">
                <a:solidFill>
                  <a:schemeClr val="bg1"/>
                </a:solidFill>
              </a:rPr>
              <a:t>i</a:t>
            </a:r>
            <a:endParaRPr lang="en-US" sz="1800" dirty="0"/>
          </a:p>
        </p:txBody>
      </p:sp>
      <p:sp>
        <p:nvSpPr>
          <p:cNvPr id="6" name="Text 3"/>
          <p:cNvSpPr txBox="1"/>
          <p:nvPr/>
        </p:nvSpPr>
        <p:spPr>
          <a:xfrm>
            <a:off x="1280160" y="5074920"/>
            <a:ext cx="10271455" cy="457200"/>
          </a:xfrm>
          <a:prstGeom prst="rect">
            <a:avLst/>
          </a:prstGeom>
          <a:noFill/>
          <a:ln/>
        </p:spPr>
        <p:txBody>
          <a:bodyPr wrap="square" lIns="0" tIns="0" rIns="0" bIns="0" rtlCol="0" anchor="ctr"/>
          <a:lstStyle/>
          <a:p>
            <a:pPr indent="0" marL="0">
              <a:buNone/>
            </a:pPr>
            <a:r>
              <a:rPr lang="en-US" sz="1600" dirty="0">
                <a:solidFill>
                  <a:schemeClr val="tx2"/>
                </a:solidFill>
              </a:rPr>
              <a:t>Bedömt på releasekritikalitet, affärsrisk, teknisk risk, beroenden och konsekvens vid försening.</a:t>
            </a:r>
            <a:endParaRPr lang="en-US" sz="16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822960"/>
          </a:xfrm>
          <a:prstGeom prst="rect">
            <a:avLst/>
          </a:prstGeom>
          <a:noFill/>
          <a:ln/>
        </p:spPr>
        <p:txBody>
          <a:bodyPr wrap="square" lIns="0" tIns="0" rIns="0" bIns="0" rtlCol="0" anchor="t"/>
          <a:lstStyle/>
          <a:p>
            <a:pPr algn="l" indent="0" marL="0">
              <a:buNone/>
            </a:pPr>
            <a:r>
              <a:rPr lang="en-US" sz="3600" b="1" dirty="0">
                <a:solidFill>
                  <a:schemeClr val="tx1"/>
                </a:solidFill>
              </a:rPr>
              <a:t>Miljöplan för veckan</a:t>
            </a:r>
            <a:endParaRPr lang="en-US" sz="3600" dirty="0"/>
          </a:p>
        </p:txBody>
      </p:sp>
      <p:sp>
        <p:nvSpPr>
          <p:cNvPr id="3" name="Shape 1"/>
          <p:cNvSpPr/>
          <p:nvPr/>
        </p:nvSpPr>
        <p:spPr>
          <a:xfrm>
            <a:off x="640080" y="1508760"/>
            <a:ext cx="2036003" cy="1920240"/>
          </a:xfrm>
          <a:prstGeom prst="roundRect">
            <a:avLst>
              <a:gd name="adj" fmla="val 4762"/>
            </a:avLst>
          </a:prstGeom>
          <a:solidFill>
            <a:schemeClr val="accent1"/>
          </a:solidFill>
          <a:ln/>
        </p:spPr>
      </p:sp>
      <p:sp>
        <p:nvSpPr>
          <p:cNvPr id="4" name="Text 2"/>
          <p:cNvSpPr txBox="1"/>
          <p:nvPr/>
        </p:nvSpPr>
        <p:spPr>
          <a:xfrm>
            <a:off x="868680" y="1737360"/>
            <a:ext cx="1578803" cy="320040"/>
          </a:xfrm>
          <a:prstGeom prst="rect">
            <a:avLst/>
          </a:prstGeom>
          <a:noFill/>
          <a:ln/>
        </p:spPr>
        <p:txBody>
          <a:bodyPr wrap="square" lIns="0" tIns="0" rIns="0" bIns="0" rtlCol="0" anchor="t"/>
          <a:lstStyle/>
          <a:p>
            <a:pPr indent="0" marL="0">
              <a:buNone/>
            </a:pPr>
            <a:r>
              <a:rPr lang="en-US" sz="1400" dirty="0">
                <a:solidFill>
                  <a:srgbClr val="D6E4F0"/>
                </a:solidFill>
              </a:rPr>
              <a:t>Måndag</a:t>
            </a:r>
            <a:endParaRPr lang="en-US" sz="1400" dirty="0"/>
          </a:p>
        </p:txBody>
      </p:sp>
      <p:sp>
        <p:nvSpPr>
          <p:cNvPr id="5" name="Text 3"/>
          <p:cNvSpPr txBox="1"/>
          <p:nvPr/>
        </p:nvSpPr>
        <p:spPr>
          <a:xfrm>
            <a:off x="868680" y="2103120"/>
            <a:ext cx="1578803" cy="457200"/>
          </a:xfrm>
          <a:prstGeom prst="rect">
            <a:avLst/>
          </a:prstGeom>
          <a:noFill/>
          <a:ln/>
        </p:spPr>
        <p:txBody>
          <a:bodyPr wrap="square" lIns="0" tIns="0" rIns="0" bIns="0" rtlCol="0" anchor="t"/>
          <a:lstStyle/>
          <a:p>
            <a:pPr indent="0" marL="0">
              <a:buNone/>
            </a:pPr>
            <a:r>
              <a:rPr lang="en-US" sz="2200" b="1" dirty="0">
                <a:solidFill>
                  <a:schemeClr val="bg1"/>
                </a:solidFill>
              </a:rPr>
              <a:t>Team A</a:t>
            </a:r>
            <a:endParaRPr lang="en-US" sz="2200" dirty="0"/>
          </a:p>
        </p:txBody>
      </p:sp>
      <p:sp>
        <p:nvSpPr>
          <p:cNvPr id="6" name="Text 4"/>
          <p:cNvSpPr txBox="1"/>
          <p:nvPr/>
        </p:nvSpPr>
        <p:spPr>
          <a:xfrm>
            <a:off x="868680" y="2606040"/>
            <a:ext cx="1578803" cy="685800"/>
          </a:xfrm>
          <a:prstGeom prst="rect">
            <a:avLst/>
          </a:prstGeom>
          <a:noFill/>
          <a:ln/>
        </p:spPr>
        <p:txBody>
          <a:bodyPr wrap="square" lIns="0" tIns="0" rIns="0" bIns="0" rtlCol="0" anchor="t"/>
          <a:lstStyle/>
          <a:p>
            <a:pPr indent="0" marL="0">
              <a:buNone/>
            </a:pPr>
            <a:r>
              <a:rPr lang="en-US" sz="1400" dirty="0">
                <a:solidFill>
                  <a:schemeClr val="bg1"/>
                </a:solidFill>
              </a:rPr>
              <a:t>SIT betalning</a:t>
            </a:r>
            <a:endParaRPr lang="en-US" sz="1400" dirty="0"/>
          </a:p>
          <a:p>
            <a:pPr indent="0" marL="0">
              <a:buNone/>
            </a:pPr>
            <a:r>
              <a:rPr lang="en-US" sz="1400" dirty="0">
                <a:solidFill>
                  <a:schemeClr val="bg1"/>
                </a:solidFill>
              </a:rPr>
              <a:t>Build A</a:t>
            </a:r>
            <a:endParaRPr lang="en-US" sz="1400" dirty="0"/>
          </a:p>
        </p:txBody>
      </p:sp>
      <p:sp>
        <p:nvSpPr>
          <p:cNvPr id="7" name="Shape 5"/>
          <p:cNvSpPr/>
          <p:nvPr/>
        </p:nvSpPr>
        <p:spPr>
          <a:xfrm>
            <a:off x="2858963" y="1508760"/>
            <a:ext cx="2036003" cy="1920240"/>
          </a:xfrm>
          <a:prstGeom prst="roundRect">
            <a:avLst>
              <a:gd name="adj" fmla="val 4762"/>
            </a:avLst>
          </a:prstGeom>
          <a:solidFill>
            <a:schemeClr val="accent1"/>
          </a:solidFill>
          <a:ln/>
        </p:spPr>
      </p:sp>
      <p:sp>
        <p:nvSpPr>
          <p:cNvPr id="8" name="Text 6"/>
          <p:cNvSpPr txBox="1"/>
          <p:nvPr/>
        </p:nvSpPr>
        <p:spPr>
          <a:xfrm>
            <a:off x="3087563" y="1737360"/>
            <a:ext cx="1578803" cy="320040"/>
          </a:xfrm>
          <a:prstGeom prst="rect">
            <a:avLst/>
          </a:prstGeom>
          <a:noFill/>
          <a:ln/>
        </p:spPr>
        <p:txBody>
          <a:bodyPr wrap="square" lIns="0" tIns="0" rIns="0" bIns="0" rtlCol="0" anchor="t"/>
          <a:lstStyle/>
          <a:p>
            <a:pPr indent="0" marL="0">
              <a:buNone/>
            </a:pPr>
            <a:r>
              <a:rPr lang="en-US" sz="1400" dirty="0">
                <a:solidFill>
                  <a:srgbClr val="D6E4F0"/>
                </a:solidFill>
              </a:rPr>
              <a:t>Tisdag</a:t>
            </a:r>
            <a:endParaRPr lang="en-US" sz="1400" dirty="0"/>
          </a:p>
        </p:txBody>
      </p:sp>
      <p:sp>
        <p:nvSpPr>
          <p:cNvPr id="9" name="Text 7"/>
          <p:cNvSpPr txBox="1"/>
          <p:nvPr/>
        </p:nvSpPr>
        <p:spPr>
          <a:xfrm>
            <a:off x="3087563" y="2103120"/>
            <a:ext cx="1578803" cy="457200"/>
          </a:xfrm>
          <a:prstGeom prst="rect">
            <a:avLst/>
          </a:prstGeom>
          <a:noFill/>
          <a:ln/>
        </p:spPr>
        <p:txBody>
          <a:bodyPr wrap="square" lIns="0" tIns="0" rIns="0" bIns="0" rtlCol="0" anchor="t"/>
          <a:lstStyle/>
          <a:p>
            <a:pPr indent="0" marL="0">
              <a:buNone/>
            </a:pPr>
            <a:r>
              <a:rPr lang="en-US" sz="2200" b="1" dirty="0">
                <a:solidFill>
                  <a:schemeClr val="bg1"/>
                </a:solidFill>
              </a:rPr>
              <a:t>Team A</a:t>
            </a:r>
            <a:endParaRPr lang="en-US" sz="2200" dirty="0"/>
          </a:p>
        </p:txBody>
      </p:sp>
      <p:sp>
        <p:nvSpPr>
          <p:cNvPr id="10" name="Text 8"/>
          <p:cNvSpPr txBox="1"/>
          <p:nvPr/>
        </p:nvSpPr>
        <p:spPr>
          <a:xfrm>
            <a:off x="3087563" y="2606040"/>
            <a:ext cx="1578803" cy="685800"/>
          </a:xfrm>
          <a:prstGeom prst="rect">
            <a:avLst/>
          </a:prstGeom>
          <a:noFill/>
          <a:ln/>
        </p:spPr>
        <p:txBody>
          <a:bodyPr wrap="square" lIns="0" tIns="0" rIns="0" bIns="0" rtlCol="0" anchor="t"/>
          <a:lstStyle/>
          <a:p>
            <a:pPr indent="0" marL="0">
              <a:buNone/>
            </a:pPr>
            <a:r>
              <a:rPr lang="en-US" sz="1400" dirty="0">
                <a:solidFill>
                  <a:schemeClr val="bg1"/>
                </a:solidFill>
              </a:rPr>
              <a:t>SIT betalning</a:t>
            </a:r>
            <a:endParaRPr lang="en-US" sz="1400" dirty="0"/>
          </a:p>
          <a:p>
            <a:pPr indent="0" marL="0">
              <a:buNone/>
            </a:pPr>
            <a:r>
              <a:rPr lang="en-US" sz="1400" dirty="0">
                <a:solidFill>
                  <a:schemeClr val="bg1"/>
                </a:solidFill>
              </a:rPr>
              <a:t>Build A</a:t>
            </a:r>
            <a:endParaRPr lang="en-US" sz="1400" dirty="0"/>
          </a:p>
        </p:txBody>
      </p:sp>
      <p:sp>
        <p:nvSpPr>
          <p:cNvPr id="11" name="Shape 9"/>
          <p:cNvSpPr/>
          <p:nvPr/>
        </p:nvSpPr>
        <p:spPr>
          <a:xfrm>
            <a:off x="5077846" y="1508760"/>
            <a:ext cx="2036003" cy="1920240"/>
          </a:xfrm>
          <a:prstGeom prst="roundRect">
            <a:avLst>
              <a:gd name="adj" fmla="val 4762"/>
            </a:avLst>
          </a:prstGeom>
          <a:solidFill>
            <a:schemeClr val="accent5"/>
          </a:solidFill>
          <a:ln/>
        </p:spPr>
      </p:sp>
      <p:sp>
        <p:nvSpPr>
          <p:cNvPr id="12" name="Text 10"/>
          <p:cNvSpPr txBox="1"/>
          <p:nvPr/>
        </p:nvSpPr>
        <p:spPr>
          <a:xfrm>
            <a:off x="5306446" y="1737360"/>
            <a:ext cx="1578803" cy="320040"/>
          </a:xfrm>
          <a:prstGeom prst="rect">
            <a:avLst/>
          </a:prstGeom>
          <a:noFill/>
          <a:ln/>
        </p:spPr>
        <p:txBody>
          <a:bodyPr wrap="square" lIns="0" tIns="0" rIns="0" bIns="0" rtlCol="0" anchor="t"/>
          <a:lstStyle/>
          <a:p>
            <a:pPr indent="0" marL="0">
              <a:buNone/>
            </a:pPr>
            <a:r>
              <a:rPr lang="en-US" sz="1400" dirty="0">
                <a:solidFill>
                  <a:srgbClr val="7A3D12"/>
                </a:solidFill>
              </a:rPr>
              <a:t>Onsdag</a:t>
            </a:r>
            <a:endParaRPr lang="en-US" sz="1400" dirty="0"/>
          </a:p>
        </p:txBody>
      </p:sp>
      <p:sp>
        <p:nvSpPr>
          <p:cNvPr id="13" name="Text 11"/>
          <p:cNvSpPr txBox="1"/>
          <p:nvPr/>
        </p:nvSpPr>
        <p:spPr>
          <a:xfrm>
            <a:off x="5306446" y="2103120"/>
            <a:ext cx="1578803" cy="457200"/>
          </a:xfrm>
          <a:prstGeom prst="rect">
            <a:avLst/>
          </a:prstGeom>
          <a:noFill/>
          <a:ln/>
        </p:spPr>
        <p:txBody>
          <a:bodyPr wrap="square" lIns="0" tIns="0" rIns="0" bIns="0" rtlCol="0" anchor="t"/>
          <a:lstStyle/>
          <a:p>
            <a:pPr indent="0" marL="0">
              <a:buNone/>
            </a:pPr>
            <a:r>
              <a:rPr lang="en-US" sz="2200" b="1" dirty="0">
                <a:solidFill>
                  <a:schemeClr val="tx1"/>
                </a:solidFill>
              </a:rPr>
              <a:t>Team C</a:t>
            </a:r>
            <a:endParaRPr lang="en-US" sz="2200" dirty="0"/>
          </a:p>
        </p:txBody>
      </p:sp>
      <p:sp>
        <p:nvSpPr>
          <p:cNvPr id="14" name="Text 12"/>
          <p:cNvSpPr txBox="1"/>
          <p:nvPr/>
        </p:nvSpPr>
        <p:spPr>
          <a:xfrm>
            <a:off x="5306446" y="2606040"/>
            <a:ext cx="1578803" cy="685800"/>
          </a:xfrm>
          <a:prstGeom prst="rect">
            <a:avLst/>
          </a:prstGeom>
          <a:noFill/>
          <a:ln/>
        </p:spPr>
        <p:txBody>
          <a:bodyPr wrap="square" lIns="0" tIns="0" rIns="0" bIns="0" rtlCol="0" anchor="t"/>
          <a:lstStyle/>
          <a:p>
            <a:pPr indent="0" marL="0">
              <a:buNone/>
            </a:pPr>
            <a:r>
              <a:rPr lang="en-US" sz="1400" dirty="0">
                <a:solidFill>
                  <a:schemeClr val="tx1"/>
                </a:solidFill>
              </a:rPr>
              <a:t>Regression</a:t>
            </a:r>
            <a:endParaRPr lang="en-US" sz="1400" dirty="0"/>
          </a:p>
          <a:p>
            <a:pPr indent="0" marL="0">
              <a:buNone/>
            </a:pPr>
            <a:r>
              <a:rPr lang="en-US" sz="1400" dirty="0">
                <a:solidFill>
                  <a:schemeClr val="tx1"/>
                </a:solidFill>
              </a:rPr>
              <a:t>Build C</a:t>
            </a:r>
            <a:endParaRPr lang="en-US" sz="1400" dirty="0"/>
          </a:p>
        </p:txBody>
      </p:sp>
      <p:sp>
        <p:nvSpPr>
          <p:cNvPr id="15" name="Shape 13"/>
          <p:cNvSpPr/>
          <p:nvPr/>
        </p:nvSpPr>
        <p:spPr>
          <a:xfrm>
            <a:off x="7296729" y="1508760"/>
            <a:ext cx="2036003" cy="1920240"/>
          </a:xfrm>
          <a:prstGeom prst="roundRect">
            <a:avLst>
              <a:gd name="adj" fmla="val 4762"/>
            </a:avLst>
          </a:prstGeom>
          <a:solidFill>
            <a:schemeClr val="accent5"/>
          </a:solidFill>
          <a:ln/>
        </p:spPr>
      </p:sp>
      <p:sp>
        <p:nvSpPr>
          <p:cNvPr id="16" name="Text 14"/>
          <p:cNvSpPr txBox="1"/>
          <p:nvPr/>
        </p:nvSpPr>
        <p:spPr>
          <a:xfrm>
            <a:off x="7525329" y="1737360"/>
            <a:ext cx="1578803" cy="320040"/>
          </a:xfrm>
          <a:prstGeom prst="rect">
            <a:avLst/>
          </a:prstGeom>
          <a:noFill/>
          <a:ln/>
        </p:spPr>
        <p:txBody>
          <a:bodyPr wrap="square" lIns="0" tIns="0" rIns="0" bIns="0" rtlCol="0" anchor="t"/>
          <a:lstStyle/>
          <a:p>
            <a:pPr indent="0" marL="0">
              <a:buNone/>
            </a:pPr>
            <a:r>
              <a:rPr lang="en-US" sz="1400" dirty="0">
                <a:solidFill>
                  <a:srgbClr val="7A3D12"/>
                </a:solidFill>
              </a:rPr>
              <a:t>Torsdag</a:t>
            </a:r>
            <a:endParaRPr lang="en-US" sz="1400" dirty="0"/>
          </a:p>
        </p:txBody>
      </p:sp>
      <p:sp>
        <p:nvSpPr>
          <p:cNvPr id="17" name="Text 15"/>
          <p:cNvSpPr txBox="1"/>
          <p:nvPr/>
        </p:nvSpPr>
        <p:spPr>
          <a:xfrm>
            <a:off x="7525329" y="2103120"/>
            <a:ext cx="1578803" cy="457200"/>
          </a:xfrm>
          <a:prstGeom prst="rect">
            <a:avLst/>
          </a:prstGeom>
          <a:noFill/>
          <a:ln/>
        </p:spPr>
        <p:txBody>
          <a:bodyPr wrap="square" lIns="0" tIns="0" rIns="0" bIns="0" rtlCol="0" anchor="t"/>
          <a:lstStyle/>
          <a:p>
            <a:pPr indent="0" marL="0">
              <a:buNone/>
            </a:pPr>
            <a:r>
              <a:rPr lang="en-US" sz="2200" b="1" dirty="0">
                <a:solidFill>
                  <a:schemeClr val="tx1"/>
                </a:solidFill>
              </a:rPr>
              <a:t>Team C</a:t>
            </a:r>
            <a:endParaRPr lang="en-US" sz="2200" dirty="0"/>
          </a:p>
        </p:txBody>
      </p:sp>
      <p:sp>
        <p:nvSpPr>
          <p:cNvPr id="18" name="Text 16"/>
          <p:cNvSpPr txBox="1"/>
          <p:nvPr/>
        </p:nvSpPr>
        <p:spPr>
          <a:xfrm>
            <a:off x="7525329" y="2606040"/>
            <a:ext cx="1578803" cy="685800"/>
          </a:xfrm>
          <a:prstGeom prst="rect">
            <a:avLst/>
          </a:prstGeom>
          <a:noFill/>
          <a:ln/>
        </p:spPr>
        <p:txBody>
          <a:bodyPr wrap="square" lIns="0" tIns="0" rIns="0" bIns="0" rtlCol="0" anchor="t"/>
          <a:lstStyle/>
          <a:p>
            <a:pPr indent="0" marL="0">
              <a:buNone/>
            </a:pPr>
            <a:r>
              <a:rPr lang="en-US" sz="1400" dirty="0">
                <a:solidFill>
                  <a:schemeClr val="tx1"/>
                </a:solidFill>
              </a:rPr>
              <a:t>Regression</a:t>
            </a:r>
            <a:endParaRPr lang="en-US" sz="1400" dirty="0"/>
          </a:p>
          <a:p>
            <a:pPr indent="0" marL="0">
              <a:buNone/>
            </a:pPr>
            <a:r>
              <a:rPr lang="en-US" sz="1400" dirty="0">
                <a:solidFill>
                  <a:schemeClr val="tx1"/>
                </a:solidFill>
              </a:rPr>
              <a:t>Build C</a:t>
            </a:r>
            <a:endParaRPr lang="en-US" sz="1400" dirty="0"/>
          </a:p>
        </p:txBody>
      </p:sp>
      <p:sp>
        <p:nvSpPr>
          <p:cNvPr id="19" name="Shape 17"/>
          <p:cNvSpPr/>
          <p:nvPr/>
        </p:nvSpPr>
        <p:spPr>
          <a:xfrm>
            <a:off x="9515612" y="1508760"/>
            <a:ext cx="2036003" cy="1920240"/>
          </a:xfrm>
          <a:prstGeom prst="roundRect">
            <a:avLst>
              <a:gd name="adj" fmla="val 4762"/>
            </a:avLst>
          </a:prstGeom>
          <a:solidFill>
            <a:srgbClr val="E4E0DA"/>
          </a:solidFill>
          <a:ln/>
        </p:spPr>
      </p:sp>
      <p:sp>
        <p:nvSpPr>
          <p:cNvPr id="20" name="Text 18"/>
          <p:cNvSpPr txBox="1"/>
          <p:nvPr/>
        </p:nvSpPr>
        <p:spPr>
          <a:xfrm>
            <a:off x="9744212" y="1737360"/>
            <a:ext cx="1578803" cy="320040"/>
          </a:xfrm>
          <a:prstGeom prst="rect">
            <a:avLst/>
          </a:prstGeom>
          <a:noFill/>
          <a:ln/>
        </p:spPr>
        <p:txBody>
          <a:bodyPr wrap="square" lIns="0" tIns="0" rIns="0" bIns="0" rtlCol="0" anchor="t"/>
          <a:lstStyle/>
          <a:p>
            <a:pPr indent="0" marL="0">
              <a:buNone/>
            </a:pPr>
            <a:r>
              <a:rPr lang="en-US" sz="1400" dirty="0">
                <a:solidFill>
                  <a:srgbClr val="4A5568"/>
                </a:solidFill>
              </a:rPr>
              <a:t>Fredag</a:t>
            </a:r>
            <a:endParaRPr lang="en-US" sz="1400" dirty="0"/>
          </a:p>
        </p:txBody>
      </p:sp>
      <p:sp>
        <p:nvSpPr>
          <p:cNvPr id="21" name="Text 19"/>
          <p:cNvSpPr txBox="1"/>
          <p:nvPr/>
        </p:nvSpPr>
        <p:spPr>
          <a:xfrm>
            <a:off x="9744212" y="2103120"/>
            <a:ext cx="1578803" cy="457200"/>
          </a:xfrm>
          <a:prstGeom prst="rect">
            <a:avLst/>
          </a:prstGeom>
          <a:noFill/>
          <a:ln/>
        </p:spPr>
        <p:txBody>
          <a:bodyPr wrap="square" lIns="0" tIns="0" rIns="0" bIns="0" rtlCol="0" anchor="t"/>
          <a:lstStyle/>
          <a:p>
            <a:pPr indent="0" marL="0">
              <a:buNone/>
            </a:pPr>
            <a:r>
              <a:rPr lang="en-US" sz="2200" b="1" dirty="0">
                <a:solidFill>
                  <a:schemeClr val="tx1"/>
                </a:solidFill>
              </a:rPr>
              <a:t>Team B</a:t>
            </a:r>
            <a:endParaRPr lang="en-US" sz="2200" dirty="0"/>
          </a:p>
        </p:txBody>
      </p:sp>
      <p:sp>
        <p:nvSpPr>
          <p:cNvPr id="22" name="Text 20"/>
          <p:cNvSpPr txBox="1"/>
          <p:nvPr/>
        </p:nvSpPr>
        <p:spPr>
          <a:xfrm>
            <a:off x="9744212" y="2606040"/>
            <a:ext cx="1578803" cy="685800"/>
          </a:xfrm>
          <a:prstGeom prst="rect">
            <a:avLst/>
          </a:prstGeom>
          <a:noFill/>
          <a:ln/>
        </p:spPr>
        <p:txBody>
          <a:bodyPr wrap="square" lIns="0" tIns="0" rIns="0" bIns="0" rtlCol="0" anchor="t"/>
          <a:lstStyle/>
          <a:p>
            <a:pPr indent="0" marL="0">
              <a:buNone/>
            </a:pPr>
            <a:r>
              <a:rPr lang="en-US" sz="1400" dirty="0">
                <a:solidFill>
                  <a:schemeClr val="tx1"/>
                </a:solidFill>
              </a:rPr>
              <a:t>Systemtest</a:t>
            </a:r>
            <a:endParaRPr lang="en-US" sz="1400" dirty="0"/>
          </a:p>
          <a:p>
            <a:pPr indent="0" marL="0">
              <a:buNone/>
            </a:pPr>
            <a:r>
              <a:rPr lang="en-US" sz="1400" dirty="0">
                <a:solidFill>
                  <a:schemeClr val="tx1"/>
                </a:solidFill>
              </a:rPr>
              <a:t>Build B</a:t>
            </a:r>
            <a:endParaRPr lang="en-US" sz="1400" dirty="0"/>
          </a:p>
        </p:txBody>
      </p:sp>
      <p:sp>
        <p:nvSpPr>
          <p:cNvPr id="23" name="Shape 21"/>
          <p:cNvSpPr/>
          <p:nvPr/>
        </p:nvSpPr>
        <p:spPr>
          <a:xfrm>
            <a:off x="640080" y="3794760"/>
            <a:ext cx="5318608" cy="2103120"/>
          </a:xfrm>
          <a:prstGeom prst="roundRect">
            <a:avLst>
              <a:gd name="adj" fmla="val 4348"/>
            </a:avLst>
          </a:prstGeom>
          <a:solidFill>
            <a:schemeClr val="bg1"/>
          </a:solidFill>
          <a:ln/>
          <a:effectLst>
            <a:outerShdw sx="100000" sy="100000" kx="0" ky="0" algn="bl" rotWithShape="0" blurRad="76200" dist="25400" dir="5400000">
              <a:srgbClr val="1E2A38">
                <a:alpha val="12000"/>
              </a:srgbClr>
            </a:outerShdw>
          </a:effectLst>
        </p:spPr>
      </p:sp>
      <p:sp>
        <p:nvSpPr>
          <p:cNvPr id="24" name="Text 22"/>
          <p:cNvSpPr txBox="1"/>
          <p:nvPr/>
        </p:nvSpPr>
        <p:spPr>
          <a:xfrm>
            <a:off x="960120" y="4114800"/>
            <a:ext cx="4678528" cy="457200"/>
          </a:xfrm>
          <a:prstGeom prst="rect">
            <a:avLst/>
          </a:prstGeom>
          <a:noFill/>
          <a:ln/>
        </p:spPr>
        <p:txBody>
          <a:bodyPr wrap="square" lIns="0" tIns="0" rIns="0" bIns="0" rtlCol="0" anchor="t"/>
          <a:lstStyle/>
          <a:p>
            <a:pPr indent="0" marL="0">
              <a:buNone/>
            </a:pPr>
            <a:r>
              <a:rPr lang="en-US" sz="2000" b="1" dirty="0">
                <a:solidFill>
                  <a:schemeClr val="tx1"/>
                </a:solidFill>
              </a:rPr>
              <a:t>Deployment kvällen före</a:t>
            </a:r>
            <a:endParaRPr lang="en-US" sz="2000" dirty="0"/>
          </a:p>
        </p:txBody>
      </p:sp>
      <p:sp>
        <p:nvSpPr>
          <p:cNvPr id="25" name="Text 23"/>
          <p:cNvSpPr txBox="1"/>
          <p:nvPr/>
        </p:nvSpPr>
        <p:spPr>
          <a:xfrm>
            <a:off x="960120" y="4663440"/>
            <a:ext cx="4678528" cy="1005840"/>
          </a:xfrm>
          <a:prstGeom prst="rect">
            <a:avLst/>
          </a:prstGeom>
          <a:noFill/>
          <a:ln/>
        </p:spPr>
        <p:txBody>
          <a:bodyPr wrap="square" lIns="0" tIns="0" rIns="0" bIns="0" rtlCol="0" anchor="t"/>
          <a:lstStyle/>
          <a:p>
            <a:pPr indent="0" marL="0">
              <a:buNone/>
            </a:pPr>
            <a:r>
              <a:rPr lang="en-US" sz="1600" dirty="0">
                <a:solidFill>
                  <a:schemeClr val="tx2"/>
                </a:solidFill>
              </a:rPr>
              <a:t>Miljöansvarig/DevOps deployar söndag, tisdag och torsdag kväll så att teamen får hela dagen.</a:t>
            </a:r>
            <a:endParaRPr lang="en-US" sz="1600" dirty="0"/>
          </a:p>
        </p:txBody>
      </p:sp>
      <p:sp>
        <p:nvSpPr>
          <p:cNvPr id="26" name="Shape 24"/>
          <p:cNvSpPr/>
          <p:nvPr/>
        </p:nvSpPr>
        <p:spPr>
          <a:xfrm>
            <a:off x="6233008" y="3794760"/>
            <a:ext cx="5318608" cy="2103120"/>
          </a:xfrm>
          <a:prstGeom prst="roundRect">
            <a:avLst>
              <a:gd name="adj" fmla="val 4348"/>
            </a:avLst>
          </a:prstGeom>
          <a:solidFill>
            <a:schemeClr val="bg1"/>
          </a:solidFill>
          <a:ln/>
          <a:effectLst>
            <a:outerShdw sx="100000" sy="100000" kx="0" ky="0" algn="bl" rotWithShape="0" blurRad="76200" dist="25400" dir="5400000">
              <a:srgbClr val="1E2A38">
                <a:alpha val="12000"/>
              </a:srgbClr>
            </a:outerShdw>
          </a:effectLst>
        </p:spPr>
      </p:sp>
      <p:sp>
        <p:nvSpPr>
          <p:cNvPr id="27" name="Text 25"/>
          <p:cNvSpPr txBox="1"/>
          <p:nvPr/>
        </p:nvSpPr>
        <p:spPr>
          <a:xfrm>
            <a:off x="6553048" y="4114800"/>
            <a:ext cx="4678528" cy="457200"/>
          </a:xfrm>
          <a:prstGeom prst="rect">
            <a:avLst/>
          </a:prstGeom>
          <a:noFill/>
          <a:ln/>
        </p:spPr>
        <p:txBody>
          <a:bodyPr wrap="square" lIns="0" tIns="0" rIns="0" bIns="0" rtlCol="0" anchor="t"/>
          <a:lstStyle/>
          <a:p>
            <a:pPr indent="0" marL="0">
              <a:buNone/>
            </a:pPr>
            <a:r>
              <a:rPr lang="en-US" sz="2000" b="1" dirty="0">
                <a:solidFill>
                  <a:schemeClr val="tx1"/>
                </a:solidFill>
              </a:rPr>
              <a:t>Smoke test efter varje deploy</a:t>
            </a:r>
            <a:endParaRPr lang="en-US" sz="2000" dirty="0"/>
          </a:p>
        </p:txBody>
      </p:sp>
      <p:sp>
        <p:nvSpPr>
          <p:cNvPr id="28" name="Text 26"/>
          <p:cNvSpPr txBox="1"/>
          <p:nvPr/>
        </p:nvSpPr>
        <p:spPr>
          <a:xfrm>
            <a:off x="6553048" y="4663440"/>
            <a:ext cx="4678528" cy="1005840"/>
          </a:xfrm>
          <a:prstGeom prst="rect">
            <a:avLst/>
          </a:prstGeom>
          <a:noFill/>
          <a:ln/>
        </p:spPr>
        <p:txBody>
          <a:bodyPr wrap="square" lIns="0" tIns="0" rIns="0" bIns="0" rtlCol="0" anchor="t"/>
          <a:lstStyle/>
          <a:p>
            <a:pPr indent="0" marL="0">
              <a:buNone/>
            </a:pPr>
            <a:r>
              <a:rPr lang="en-US" sz="1600" dirty="0">
                <a:solidFill>
                  <a:schemeClr val="tx2"/>
                </a:solidFill>
              </a:rPr>
              <a:t>Start utan fel, inloggning, enkel betalning, enkel order och databasanslutning.</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822960"/>
          </a:xfrm>
          <a:prstGeom prst="rect">
            <a:avLst/>
          </a:prstGeom>
          <a:noFill/>
          <a:ln/>
        </p:spPr>
        <p:txBody>
          <a:bodyPr wrap="square" lIns="0" tIns="0" rIns="0" bIns="0" rtlCol="0" anchor="t"/>
          <a:lstStyle/>
          <a:p>
            <a:pPr algn="l" indent="0" marL="0">
              <a:buNone/>
            </a:pPr>
            <a:r>
              <a:rPr lang="en-US" sz="3600" b="1" dirty="0">
                <a:solidFill>
                  <a:schemeClr val="tx1"/>
                </a:solidFill>
              </a:rPr>
              <a:t>Kommunikation och risker</a:t>
            </a:r>
            <a:endParaRPr lang="en-US" sz="3600" dirty="0"/>
          </a:p>
        </p:txBody>
      </p:sp>
      <p:sp>
        <p:nvSpPr>
          <p:cNvPr id="3" name="Text 1"/>
          <p:cNvSpPr txBox="1"/>
          <p:nvPr/>
        </p:nvSpPr>
        <p:spPr>
          <a:xfrm>
            <a:off x="640080" y="1508760"/>
            <a:ext cx="5318608" cy="457200"/>
          </a:xfrm>
          <a:prstGeom prst="rect">
            <a:avLst/>
          </a:prstGeom>
          <a:noFill/>
          <a:ln/>
        </p:spPr>
        <p:txBody>
          <a:bodyPr wrap="square" lIns="0" tIns="0" rIns="0" bIns="0" rtlCol="0" anchor="t"/>
          <a:lstStyle/>
          <a:p>
            <a:pPr indent="0" marL="0">
              <a:buNone/>
            </a:pPr>
            <a:r>
              <a:rPr lang="en-US" sz="2200" b="1" dirty="0">
                <a:solidFill>
                  <a:schemeClr val="accent1"/>
                </a:solidFill>
              </a:rPr>
              <a:t>Vem beslutar?</a:t>
            </a:r>
            <a:endParaRPr lang="en-US" sz="2200" dirty="0"/>
          </a:p>
        </p:txBody>
      </p:sp>
      <p:sp>
        <p:nvSpPr>
          <p:cNvPr id="4" name="Text 2"/>
          <p:cNvSpPr txBox="1"/>
          <p:nvPr/>
        </p:nvSpPr>
        <p:spPr>
          <a:xfrm>
            <a:off x="640080" y="2103120"/>
            <a:ext cx="5318608" cy="3474720"/>
          </a:xfrm>
          <a:prstGeom prst="rect">
            <a:avLst/>
          </a:prstGeom>
          <a:noFill/>
          <a:ln/>
        </p:spPr>
        <p:txBody>
          <a:bodyPr wrap="square" lIns="0" tIns="0" rIns="0" bIns="0" rtlCol="0" anchor="t"/>
          <a:lstStyle/>
          <a:p>
            <a:pPr indent="0" marL="0">
              <a:spcAft>
                <a:spcPts val="1400"/>
              </a:spcAft>
              <a:buNone/>
            </a:pPr>
            <a:r>
              <a:rPr lang="en-US" sz="1700" b="1" dirty="0">
                <a:solidFill>
                  <a:schemeClr val="tx1"/>
                </a:solidFill>
              </a:rPr>
              <a:t>Testledare + projektledare</a:t>
            </a:r>
            <a:pPr indent="0" marL="0">
              <a:spcAft>
                <a:spcPts val="1400"/>
              </a:spcAft>
              <a:buNone/>
            </a:pPr>
            <a:r>
              <a:rPr lang="en-US" sz="1700" dirty="0">
                <a:solidFill>
                  <a:schemeClr val="tx1"/>
                </a:solidFill>
              </a:rPr>
              <a:t> prioriterar mellan teamen</a:t>
            </a:r>
            <a:endParaRPr lang="en-US" sz="1700" dirty="0"/>
          </a:p>
          <a:p>
            <a:pPr indent="0" marL="0">
              <a:spcAft>
                <a:spcPts val="1400"/>
              </a:spcAft>
              <a:buNone/>
            </a:pPr>
            <a:r>
              <a:rPr lang="en-US" sz="1700" b="1" dirty="0">
                <a:solidFill>
                  <a:schemeClr val="tx1"/>
                </a:solidFill>
              </a:rPr>
              <a:t>Projektledaren</a:t>
            </a:r>
            <a:pPr indent="0" marL="0">
              <a:spcAft>
                <a:spcPts val="1400"/>
              </a:spcAft>
              <a:buNone/>
            </a:pPr>
            <a:r>
              <a:rPr lang="en-US" sz="1700" dirty="0">
                <a:solidFill>
                  <a:schemeClr val="tx1"/>
                </a:solidFill>
              </a:rPr>
              <a:t> avgör vid resurskonflikt</a:t>
            </a:r>
            <a:endParaRPr lang="en-US" sz="1700" dirty="0"/>
          </a:p>
          <a:p>
            <a:pPr indent="0" marL="0">
              <a:spcAft>
                <a:spcPts val="1400"/>
              </a:spcAft>
              <a:buNone/>
            </a:pPr>
            <a:r>
              <a:rPr lang="en-US" sz="1700" b="1" dirty="0">
                <a:solidFill>
                  <a:schemeClr val="tx1"/>
                </a:solidFill>
              </a:rPr>
              <a:t>Miljöansvarig/DevOps</a:t>
            </a:r>
            <a:pPr indent="0" marL="0">
              <a:spcAft>
                <a:spcPts val="1400"/>
              </a:spcAft>
              <a:buNone/>
            </a:pPr>
            <a:r>
              <a:rPr lang="en-US" sz="1700" dirty="0">
                <a:solidFill>
                  <a:schemeClr val="tx1"/>
                </a:solidFill>
              </a:rPr>
              <a:t> äger tekniska miljöfrågor</a:t>
            </a:r>
            <a:endParaRPr lang="en-US" sz="1700" dirty="0"/>
          </a:p>
          <a:p>
            <a:pPr indent="0" marL="0">
              <a:spcAft>
                <a:spcPts val="1400"/>
              </a:spcAft>
              <a:buNone/>
            </a:pPr>
            <a:r>
              <a:rPr lang="en-US" sz="1700" dirty="0">
                <a:solidFill>
                  <a:schemeClr val="tx2"/>
                </a:solidFill>
              </a:rPr>
              <a:t>Planen publiceras i en gemensam kanal. Blockerare rapporteras direkt och testledaren taggas.</a:t>
            </a:r>
            <a:endParaRPr lang="en-US" sz="1700" dirty="0"/>
          </a:p>
        </p:txBody>
      </p:sp>
      <p:sp>
        <p:nvSpPr>
          <p:cNvPr id="5" name="Text 3"/>
          <p:cNvSpPr txBox="1"/>
          <p:nvPr/>
        </p:nvSpPr>
        <p:spPr>
          <a:xfrm>
            <a:off x="6233008" y="1508760"/>
            <a:ext cx="5318608" cy="457200"/>
          </a:xfrm>
          <a:prstGeom prst="rect">
            <a:avLst/>
          </a:prstGeom>
          <a:noFill/>
          <a:ln/>
        </p:spPr>
        <p:txBody>
          <a:bodyPr wrap="square" lIns="0" tIns="0" rIns="0" bIns="0" rtlCol="0" anchor="t"/>
          <a:lstStyle/>
          <a:p>
            <a:pPr indent="0" marL="0">
              <a:buNone/>
            </a:pPr>
            <a:r>
              <a:rPr lang="en-US" sz="2200" b="1" dirty="0">
                <a:solidFill>
                  <a:srgbClr val="A8521A"/>
                </a:solidFill>
              </a:rPr>
              <a:t>Största miljöriskerna</a:t>
            </a:r>
            <a:endParaRPr lang="en-US" sz="2200" dirty="0"/>
          </a:p>
        </p:txBody>
      </p:sp>
      <p:sp>
        <p:nvSpPr>
          <p:cNvPr id="6" name="Shape 4"/>
          <p:cNvSpPr/>
          <p:nvPr/>
        </p:nvSpPr>
        <p:spPr>
          <a:xfrm>
            <a:off x="6233008" y="2103120"/>
            <a:ext cx="5318608" cy="1051560"/>
          </a:xfrm>
          <a:prstGeom prst="roundRect">
            <a:avLst>
              <a:gd name="adj" fmla="val 8696"/>
            </a:avLst>
          </a:prstGeom>
          <a:solidFill>
            <a:schemeClr val="bg1"/>
          </a:solidFill>
          <a:ln/>
          <a:effectLst>
            <a:outerShdw sx="100000" sy="100000" kx="0" ky="0" algn="bl" rotWithShape="0" blurRad="76200" dist="25400" dir="5400000">
              <a:srgbClr val="1E2A38">
                <a:alpha val="12000"/>
              </a:srgbClr>
            </a:outerShdw>
          </a:effectLst>
        </p:spPr>
      </p:sp>
      <p:sp>
        <p:nvSpPr>
          <p:cNvPr id="7" name="Shape 5"/>
          <p:cNvSpPr/>
          <p:nvPr/>
        </p:nvSpPr>
        <p:spPr>
          <a:xfrm>
            <a:off x="6507328" y="2395728"/>
            <a:ext cx="457200" cy="457200"/>
          </a:xfrm>
          <a:prstGeom prst="ellipse">
            <a:avLst/>
          </a:prstGeom>
          <a:solidFill>
            <a:schemeClr val="accent2"/>
          </a:solidFill>
          <a:ln/>
        </p:spPr>
      </p:sp>
      <p:sp>
        <p:nvSpPr>
          <p:cNvPr id="8" name="Text 6"/>
          <p:cNvSpPr txBox="1"/>
          <p:nvPr/>
        </p:nvSpPr>
        <p:spPr>
          <a:xfrm>
            <a:off x="6507328" y="239572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9" name="Text 7"/>
          <p:cNvSpPr txBox="1"/>
          <p:nvPr/>
        </p:nvSpPr>
        <p:spPr>
          <a:xfrm>
            <a:off x="7147408" y="2286000"/>
            <a:ext cx="4129888" cy="365760"/>
          </a:xfrm>
          <a:prstGeom prst="rect">
            <a:avLst/>
          </a:prstGeom>
          <a:noFill/>
          <a:ln/>
        </p:spPr>
        <p:txBody>
          <a:bodyPr wrap="square" lIns="0" tIns="0" rIns="0" bIns="0" rtlCol="0" anchor="t"/>
          <a:lstStyle/>
          <a:p>
            <a:pPr indent="0" marL="0">
              <a:buNone/>
            </a:pPr>
            <a:r>
              <a:rPr lang="en-US" sz="1800" b="1" dirty="0">
                <a:solidFill>
                  <a:schemeClr val="tx1"/>
                </a:solidFill>
              </a:rPr>
              <a:t>Deployment misslyckas</a:t>
            </a:r>
            <a:endParaRPr lang="en-US" sz="1800" dirty="0"/>
          </a:p>
        </p:txBody>
      </p:sp>
      <p:sp>
        <p:nvSpPr>
          <p:cNvPr id="10" name="Text 8"/>
          <p:cNvSpPr txBox="1"/>
          <p:nvPr/>
        </p:nvSpPr>
        <p:spPr>
          <a:xfrm>
            <a:off x="7147408" y="2670048"/>
            <a:ext cx="4129888" cy="365760"/>
          </a:xfrm>
          <a:prstGeom prst="rect">
            <a:avLst/>
          </a:prstGeom>
          <a:noFill/>
          <a:ln/>
        </p:spPr>
        <p:txBody>
          <a:bodyPr wrap="square" lIns="0" tIns="0" rIns="0" bIns="0" rtlCol="0" anchor="t"/>
          <a:lstStyle/>
          <a:p>
            <a:pPr indent="0" marL="0">
              <a:buNone/>
            </a:pPr>
            <a:r>
              <a:rPr lang="en-US" sz="1400" dirty="0">
                <a:solidFill>
                  <a:schemeClr val="tx2"/>
                </a:solidFill>
              </a:rPr>
              <a:t>Åtgärd: senaste stabila build redo som backup</a:t>
            </a:r>
            <a:endParaRPr lang="en-US" sz="1400" dirty="0"/>
          </a:p>
        </p:txBody>
      </p:sp>
      <p:sp>
        <p:nvSpPr>
          <p:cNvPr id="11" name="Shape 9"/>
          <p:cNvSpPr/>
          <p:nvPr/>
        </p:nvSpPr>
        <p:spPr>
          <a:xfrm>
            <a:off x="6233008" y="3337560"/>
            <a:ext cx="5318608" cy="1051560"/>
          </a:xfrm>
          <a:prstGeom prst="roundRect">
            <a:avLst>
              <a:gd name="adj" fmla="val 8696"/>
            </a:avLst>
          </a:prstGeom>
          <a:solidFill>
            <a:schemeClr val="bg1"/>
          </a:solidFill>
          <a:ln/>
          <a:effectLst>
            <a:outerShdw sx="100000" sy="100000" kx="0" ky="0" algn="bl" rotWithShape="0" blurRad="76200" dist="25400" dir="5400000">
              <a:srgbClr val="1E2A38">
                <a:alpha val="12000"/>
              </a:srgbClr>
            </a:outerShdw>
          </a:effectLst>
        </p:spPr>
      </p:sp>
      <p:sp>
        <p:nvSpPr>
          <p:cNvPr id="12" name="Shape 10"/>
          <p:cNvSpPr/>
          <p:nvPr/>
        </p:nvSpPr>
        <p:spPr>
          <a:xfrm>
            <a:off x="6507328" y="3630168"/>
            <a:ext cx="457200" cy="457200"/>
          </a:xfrm>
          <a:prstGeom prst="ellipse">
            <a:avLst/>
          </a:prstGeom>
          <a:solidFill>
            <a:schemeClr val="accent2"/>
          </a:solidFill>
          <a:ln/>
        </p:spPr>
      </p:sp>
      <p:sp>
        <p:nvSpPr>
          <p:cNvPr id="13" name="Text 11"/>
          <p:cNvSpPr txBox="1"/>
          <p:nvPr/>
        </p:nvSpPr>
        <p:spPr>
          <a:xfrm>
            <a:off x="6507328" y="363016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4" name="Text 12"/>
          <p:cNvSpPr txBox="1"/>
          <p:nvPr/>
        </p:nvSpPr>
        <p:spPr>
          <a:xfrm>
            <a:off x="7147408" y="3520440"/>
            <a:ext cx="4129888" cy="365760"/>
          </a:xfrm>
          <a:prstGeom prst="rect">
            <a:avLst/>
          </a:prstGeom>
          <a:noFill/>
          <a:ln/>
        </p:spPr>
        <p:txBody>
          <a:bodyPr wrap="square" lIns="0" tIns="0" rIns="0" bIns="0" rtlCol="0" anchor="t"/>
          <a:lstStyle/>
          <a:p>
            <a:pPr indent="0" marL="0">
              <a:buNone/>
            </a:pPr>
            <a:r>
              <a:rPr lang="en-US" sz="1800" b="1" dirty="0">
                <a:solidFill>
                  <a:schemeClr val="tx1"/>
                </a:solidFill>
              </a:rPr>
              <a:t>En build åt gången</a:t>
            </a:r>
            <a:endParaRPr lang="en-US" sz="1800" dirty="0"/>
          </a:p>
        </p:txBody>
      </p:sp>
      <p:sp>
        <p:nvSpPr>
          <p:cNvPr id="15" name="Text 13"/>
          <p:cNvSpPr txBox="1"/>
          <p:nvPr/>
        </p:nvSpPr>
        <p:spPr>
          <a:xfrm>
            <a:off x="7147408" y="3904488"/>
            <a:ext cx="4129888" cy="365760"/>
          </a:xfrm>
          <a:prstGeom prst="rect">
            <a:avLst/>
          </a:prstGeom>
          <a:noFill/>
          <a:ln/>
        </p:spPr>
        <p:txBody>
          <a:bodyPr wrap="square" lIns="0" tIns="0" rIns="0" bIns="0" rtlCol="0" anchor="t"/>
          <a:lstStyle/>
          <a:p>
            <a:pPr indent="0" marL="0">
              <a:buNone/>
            </a:pPr>
            <a:r>
              <a:rPr lang="en-US" sz="1400" dirty="0">
                <a:solidFill>
                  <a:schemeClr val="tx2"/>
                </a:solidFill>
              </a:rPr>
              <a:t>Åtgärd: tydligt schema och prioritering</a:t>
            </a:r>
            <a:endParaRPr lang="en-US" sz="1400" dirty="0"/>
          </a:p>
        </p:txBody>
      </p:sp>
      <p:sp>
        <p:nvSpPr>
          <p:cNvPr id="16" name="Shape 14"/>
          <p:cNvSpPr/>
          <p:nvPr/>
        </p:nvSpPr>
        <p:spPr>
          <a:xfrm>
            <a:off x="6233008" y="4572000"/>
            <a:ext cx="5318608" cy="1051560"/>
          </a:xfrm>
          <a:prstGeom prst="roundRect">
            <a:avLst>
              <a:gd name="adj" fmla="val 8696"/>
            </a:avLst>
          </a:prstGeom>
          <a:solidFill>
            <a:schemeClr val="bg1"/>
          </a:solidFill>
          <a:ln/>
          <a:effectLst>
            <a:outerShdw sx="100000" sy="100000" kx="0" ky="0" algn="bl" rotWithShape="0" blurRad="76200" dist="25400" dir="5400000">
              <a:srgbClr val="1E2A38">
                <a:alpha val="12000"/>
              </a:srgbClr>
            </a:outerShdw>
          </a:effectLst>
        </p:spPr>
      </p:sp>
      <p:sp>
        <p:nvSpPr>
          <p:cNvPr id="17" name="Shape 15"/>
          <p:cNvSpPr/>
          <p:nvPr/>
        </p:nvSpPr>
        <p:spPr>
          <a:xfrm>
            <a:off x="6507328" y="4864608"/>
            <a:ext cx="457200" cy="457200"/>
          </a:xfrm>
          <a:prstGeom prst="ellipse">
            <a:avLst/>
          </a:prstGeom>
          <a:solidFill>
            <a:schemeClr val="accent2"/>
          </a:solidFill>
          <a:ln/>
        </p:spPr>
      </p:sp>
      <p:sp>
        <p:nvSpPr>
          <p:cNvPr id="18" name="Text 16"/>
          <p:cNvSpPr txBox="1"/>
          <p:nvPr/>
        </p:nvSpPr>
        <p:spPr>
          <a:xfrm>
            <a:off x="6507328" y="4864608"/>
            <a:ext cx="457200" cy="457200"/>
          </a:xfrm>
          <a:prstGeom prst="rect">
            <a:avLst/>
          </a:prstGeom>
          <a:noFill/>
          <a:ln/>
        </p:spPr>
        <p:txBody>
          <a:bodyPr wrap="square" lIns="0" tIns="0" rIns="0" bIns="0" rtlCol="0" anchor="ctr"/>
          <a:lstStyle/>
          <a:p>
            <a:pPr algn="ctr" indent="0" marL="0">
              <a:buNone/>
            </a:pPr>
            <a:r>
              <a:rPr lang="en-US" sz="2000" b="1" dirty="0">
                <a:solidFill>
                  <a:schemeClr val="bg1"/>
                </a:solidFill>
              </a:rPr>
              <a:t>!</a:t>
            </a:r>
            <a:endParaRPr lang="en-US" sz="2000" dirty="0"/>
          </a:p>
        </p:txBody>
      </p:sp>
      <p:sp>
        <p:nvSpPr>
          <p:cNvPr id="19" name="Text 17"/>
          <p:cNvSpPr txBox="1"/>
          <p:nvPr/>
        </p:nvSpPr>
        <p:spPr>
          <a:xfrm>
            <a:off x="7147408" y="4754880"/>
            <a:ext cx="4129888" cy="365760"/>
          </a:xfrm>
          <a:prstGeom prst="rect">
            <a:avLst/>
          </a:prstGeom>
          <a:noFill/>
          <a:ln/>
        </p:spPr>
        <p:txBody>
          <a:bodyPr wrap="square" lIns="0" tIns="0" rIns="0" bIns="0" rtlCol="0" anchor="t"/>
          <a:lstStyle/>
          <a:p>
            <a:pPr indent="0" marL="0">
              <a:buNone/>
            </a:pPr>
            <a:r>
              <a:rPr lang="en-US" sz="1800" b="1" dirty="0">
                <a:solidFill>
                  <a:schemeClr val="tx1"/>
                </a:solidFill>
              </a:rPr>
              <a:t>Payment Provider TEST nere</a:t>
            </a:r>
            <a:endParaRPr lang="en-US" sz="1800" dirty="0"/>
          </a:p>
        </p:txBody>
      </p:sp>
      <p:sp>
        <p:nvSpPr>
          <p:cNvPr id="20" name="Text 18"/>
          <p:cNvSpPr txBox="1"/>
          <p:nvPr/>
        </p:nvSpPr>
        <p:spPr>
          <a:xfrm>
            <a:off x="7147408" y="5138928"/>
            <a:ext cx="4129888" cy="365760"/>
          </a:xfrm>
          <a:prstGeom prst="rect">
            <a:avLst/>
          </a:prstGeom>
          <a:noFill/>
          <a:ln/>
        </p:spPr>
        <p:txBody>
          <a:bodyPr wrap="square" lIns="0" tIns="0" rIns="0" bIns="0" rtlCol="0" anchor="t"/>
          <a:lstStyle/>
          <a:p>
            <a:pPr indent="0" marL="0">
              <a:buNone/>
            </a:pPr>
            <a:r>
              <a:rPr lang="en-US" sz="1400" dirty="0">
                <a:solidFill>
                  <a:schemeClr val="tx2"/>
                </a:solidFill>
              </a:rPr>
              <a:t>Åtgärd: avtalad SLA och kontaktväg</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1737360"/>
            <a:ext cx="10911535" cy="365760"/>
          </a:xfrm>
          <a:prstGeom prst="rect">
            <a:avLst/>
          </a:prstGeom>
          <a:noFill/>
          <a:ln/>
        </p:spPr>
        <p:txBody>
          <a:bodyPr wrap="square" lIns="0" tIns="0" rIns="0" bIns="0" rtlCol="0" anchor="t"/>
          <a:lstStyle/>
          <a:p>
            <a:pPr indent="0" marL="0">
              <a:buNone/>
            </a:pPr>
            <a:r>
              <a:rPr lang="en-US" sz="1600" b="1" spc="400" kern="0" dirty="0">
                <a:solidFill>
                  <a:srgbClr val="2A1606"/>
                </a:solidFill>
              </a:rPr>
              <a:t>FÖRÄNDRING</a:t>
            </a:r>
            <a:endParaRPr lang="en-US" sz="1600" dirty="0"/>
          </a:p>
        </p:txBody>
      </p:sp>
      <p:sp>
        <p:nvSpPr>
          <p:cNvPr id="3" name="Text 1"/>
          <p:cNvSpPr txBox="1"/>
          <p:nvPr/>
        </p:nvSpPr>
        <p:spPr>
          <a:xfrm>
            <a:off x="640080" y="2240280"/>
            <a:ext cx="10911535" cy="1737360"/>
          </a:xfrm>
          <a:prstGeom prst="rect">
            <a:avLst/>
          </a:prstGeom>
          <a:noFill/>
          <a:ln/>
        </p:spPr>
        <p:txBody>
          <a:bodyPr wrap="square" lIns="0" tIns="0" rIns="0" bIns="0" rtlCol="0" anchor="t"/>
          <a:lstStyle/>
          <a:p>
            <a:pPr indent="0" marL="0">
              <a:buNone/>
            </a:pPr>
            <a:r>
              <a:rPr lang="en-US" sz="4800" b="1" dirty="0">
                <a:solidFill>
                  <a:srgbClr val="1A0F05"/>
                </a:solidFill>
              </a:rPr>
              <a:t>Tisdag morgon:</a:t>
            </a:r>
            <a:endParaRPr lang="en-US" sz="4800" dirty="0"/>
          </a:p>
          <a:p>
            <a:pPr indent="0" marL="0">
              <a:buNone/>
            </a:pPr>
            <a:r>
              <a:rPr lang="en-US" sz="4800" b="1" dirty="0">
                <a:solidFill>
                  <a:srgbClr val="1A0F05"/>
                </a:solidFill>
              </a:rPr>
              <a:t>deployment för Team A misslyckas</a:t>
            </a:r>
            <a:endParaRPr lang="en-US" sz="4800" dirty="0"/>
          </a:p>
        </p:txBody>
      </p:sp>
      <p:sp>
        <p:nvSpPr>
          <p:cNvPr id="4" name="Text 2"/>
          <p:cNvSpPr txBox="1"/>
          <p:nvPr/>
        </p:nvSpPr>
        <p:spPr>
          <a:xfrm>
            <a:off x="640080" y="4160520"/>
            <a:ext cx="9144000" cy="914400"/>
          </a:xfrm>
          <a:prstGeom prst="rect">
            <a:avLst/>
          </a:prstGeom>
          <a:noFill/>
          <a:ln/>
        </p:spPr>
        <p:txBody>
          <a:bodyPr wrap="square" lIns="0" tIns="0" rIns="0" bIns="0" rtlCol="0" anchor="t"/>
          <a:lstStyle/>
          <a:p>
            <a:pPr indent="0" marL="0">
              <a:buNone/>
            </a:pPr>
            <a:r>
              <a:rPr lang="en-US" sz="2200" dirty="0">
                <a:solidFill>
                  <a:srgbClr val="2A1606"/>
                </a:solidFill>
              </a:rPr>
              <a:t>Miljön är nere i fyra timmar, och Team C väntar på att börja sin regression.</a:t>
            </a:r>
            <a:endParaRPr lang="en-US" sz="2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640080" y="457200"/>
            <a:ext cx="10911535" cy="822960"/>
          </a:xfrm>
          <a:prstGeom prst="rect">
            <a:avLst/>
          </a:prstGeom>
          <a:noFill/>
          <a:ln/>
        </p:spPr>
        <p:txBody>
          <a:bodyPr wrap="square" lIns="0" tIns="0" rIns="0" bIns="0" rtlCol="0" anchor="t"/>
          <a:lstStyle/>
          <a:p>
            <a:pPr algn="l" indent="0" marL="0">
              <a:buNone/>
            </a:pPr>
            <a:r>
              <a:rPr lang="en-US" sz="3600" b="1" dirty="0">
                <a:solidFill>
                  <a:schemeClr val="bg1"/>
                </a:solidFill>
              </a:rPr>
              <a:t>Så agerar testledaren</a:t>
            </a:r>
            <a:endParaRPr lang="en-US" sz="3600" dirty="0"/>
          </a:p>
        </p:txBody>
      </p:sp>
      <p:sp>
        <p:nvSpPr>
          <p:cNvPr id="3" name="Shape 1"/>
          <p:cNvSpPr/>
          <p:nvPr/>
        </p:nvSpPr>
        <p:spPr>
          <a:xfrm>
            <a:off x="640080" y="1508760"/>
            <a:ext cx="3454298" cy="2011680"/>
          </a:xfrm>
          <a:prstGeom prst="roundRect">
            <a:avLst>
              <a:gd name="adj" fmla="val 4545"/>
            </a:avLst>
          </a:prstGeom>
          <a:solidFill>
            <a:schemeClr val="accent4"/>
          </a:solidFill>
          <a:ln/>
        </p:spPr>
      </p:sp>
      <p:sp>
        <p:nvSpPr>
          <p:cNvPr id="4" name="Text 2"/>
          <p:cNvSpPr txBox="1"/>
          <p:nvPr/>
        </p:nvSpPr>
        <p:spPr>
          <a:xfrm>
            <a:off x="914400" y="1783080"/>
            <a:ext cx="2905658" cy="411480"/>
          </a:xfrm>
          <a:prstGeom prst="rect">
            <a:avLst/>
          </a:prstGeom>
          <a:noFill/>
          <a:ln/>
        </p:spPr>
        <p:txBody>
          <a:bodyPr wrap="square" lIns="0" tIns="0" rIns="0" bIns="0" rtlCol="0" anchor="t"/>
          <a:lstStyle/>
          <a:p>
            <a:pPr indent="0" marL="0">
              <a:buNone/>
            </a:pPr>
            <a:r>
              <a:rPr lang="en-US" sz="1800" b="1" dirty="0">
                <a:solidFill>
                  <a:srgbClr val="E89A55"/>
                </a:solidFill>
              </a:rPr>
              <a:t>1 · Stoppa</a:t>
            </a:r>
            <a:endParaRPr lang="en-US" sz="1800" dirty="0"/>
          </a:p>
        </p:txBody>
      </p:sp>
      <p:sp>
        <p:nvSpPr>
          <p:cNvPr id="5" name="Text 3"/>
          <p:cNvSpPr txBox="1"/>
          <p:nvPr/>
        </p:nvSpPr>
        <p:spPr>
          <a:xfrm>
            <a:off x="914400" y="2286000"/>
            <a:ext cx="2905658" cy="1051560"/>
          </a:xfrm>
          <a:prstGeom prst="rect">
            <a:avLst/>
          </a:prstGeom>
          <a:noFill/>
          <a:ln/>
        </p:spPr>
        <p:txBody>
          <a:bodyPr wrap="square" lIns="0" tIns="0" rIns="0" bIns="0" rtlCol="0" anchor="t"/>
          <a:lstStyle/>
          <a:p>
            <a:pPr indent="0" marL="0">
              <a:buNone/>
            </a:pPr>
            <a:r>
              <a:rPr lang="en-US" sz="1600" dirty="0">
                <a:solidFill>
                  <a:schemeClr val="bg1"/>
                </a:solidFill>
              </a:rPr>
              <a:t>Team A:s tester stoppas tills miljön är tillbaka och verifierad.</a:t>
            </a:r>
            <a:endParaRPr lang="en-US" sz="1600" dirty="0"/>
          </a:p>
        </p:txBody>
      </p:sp>
      <p:sp>
        <p:nvSpPr>
          <p:cNvPr id="6" name="Shape 4"/>
          <p:cNvSpPr/>
          <p:nvPr/>
        </p:nvSpPr>
        <p:spPr>
          <a:xfrm>
            <a:off x="4368698" y="1508760"/>
            <a:ext cx="3454298" cy="2011680"/>
          </a:xfrm>
          <a:prstGeom prst="roundRect">
            <a:avLst>
              <a:gd name="adj" fmla="val 4545"/>
            </a:avLst>
          </a:prstGeom>
          <a:solidFill>
            <a:schemeClr val="accent4"/>
          </a:solidFill>
          <a:ln/>
        </p:spPr>
      </p:sp>
      <p:sp>
        <p:nvSpPr>
          <p:cNvPr id="7" name="Text 5"/>
          <p:cNvSpPr txBox="1"/>
          <p:nvPr/>
        </p:nvSpPr>
        <p:spPr>
          <a:xfrm>
            <a:off x="4643018" y="1783080"/>
            <a:ext cx="2905658" cy="411480"/>
          </a:xfrm>
          <a:prstGeom prst="rect">
            <a:avLst/>
          </a:prstGeom>
          <a:noFill/>
          <a:ln/>
        </p:spPr>
        <p:txBody>
          <a:bodyPr wrap="square" lIns="0" tIns="0" rIns="0" bIns="0" rtlCol="0" anchor="t"/>
          <a:lstStyle/>
          <a:p>
            <a:pPr indent="0" marL="0">
              <a:buNone/>
            </a:pPr>
            <a:r>
              <a:rPr lang="en-US" sz="1800" b="1" dirty="0">
                <a:solidFill>
                  <a:srgbClr val="E89A55"/>
                </a:solidFill>
              </a:rPr>
              <a:t>2 · Eskalera</a:t>
            </a:r>
            <a:endParaRPr lang="en-US" sz="1800" dirty="0"/>
          </a:p>
        </p:txBody>
      </p:sp>
      <p:sp>
        <p:nvSpPr>
          <p:cNvPr id="8" name="Text 6"/>
          <p:cNvSpPr txBox="1"/>
          <p:nvPr/>
        </p:nvSpPr>
        <p:spPr>
          <a:xfrm>
            <a:off x="4643018" y="2286000"/>
            <a:ext cx="2905658" cy="1051560"/>
          </a:xfrm>
          <a:prstGeom prst="rect">
            <a:avLst/>
          </a:prstGeom>
          <a:noFill/>
          <a:ln/>
        </p:spPr>
        <p:txBody>
          <a:bodyPr wrap="square" lIns="0" tIns="0" rIns="0" bIns="0" rtlCol="0" anchor="t"/>
          <a:lstStyle/>
          <a:p>
            <a:pPr indent="0" marL="0">
              <a:buNone/>
            </a:pPr>
            <a:r>
              <a:rPr lang="en-US" sz="1600" dirty="0">
                <a:solidFill>
                  <a:schemeClr val="bg1"/>
                </a:solidFill>
              </a:rPr>
              <a:t>Direkt till projektledare och miljöansvarig. Vidare om det inte är löst inom 1–2 h.</a:t>
            </a:r>
            <a:endParaRPr lang="en-US" sz="1600" dirty="0"/>
          </a:p>
        </p:txBody>
      </p:sp>
      <p:sp>
        <p:nvSpPr>
          <p:cNvPr id="9" name="Shape 7"/>
          <p:cNvSpPr/>
          <p:nvPr/>
        </p:nvSpPr>
        <p:spPr>
          <a:xfrm>
            <a:off x="8097317" y="1508760"/>
            <a:ext cx="3454298" cy="2011680"/>
          </a:xfrm>
          <a:prstGeom prst="roundRect">
            <a:avLst>
              <a:gd name="adj" fmla="val 4545"/>
            </a:avLst>
          </a:prstGeom>
          <a:solidFill>
            <a:schemeClr val="accent4"/>
          </a:solidFill>
          <a:ln/>
        </p:spPr>
      </p:sp>
      <p:sp>
        <p:nvSpPr>
          <p:cNvPr id="10" name="Text 8"/>
          <p:cNvSpPr txBox="1"/>
          <p:nvPr/>
        </p:nvSpPr>
        <p:spPr>
          <a:xfrm>
            <a:off x="8371637" y="1783080"/>
            <a:ext cx="2905658" cy="411480"/>
          </a:xfrm>
          <a:prstGeom prst="rect">
            <a:avLst/>
          </a:prstGeom>
          <a:noFill/>
          <a:ln/>
        </p:spPr>
        <p:txBody>
          <a:bodyPr wrap="square" lIns="0" tIns="0" rIns="0" bIns="0" rtlCol="0" anchor="t"/>
          <a:lstStyle/>
          <a:p>
            <a:pPr indent="0" marL="0">
              <a:buNone/>
            </a:pPr>
            <a:r>
              <a:rPr lang="en-US" sz="1800" b="1" dirty="0">
                <a:solidFill>
                  <a:srgbClr val="E89A55"/>
                </a:solidFill>
              </a:rPr>
              <a:t>3 · Verifiera</a:t>
            </a:r>
            <a:endParaRPr lang="en-US" sz="1800" dirty="0"/>
          </a:p>
        </p:txBody>
      </p:sp>
      <p:sp>
        <p:nvSpPr>
          <p:cNvPr id="11" name="Text 9"/>
          <p:cNvSpPr txBox="1"/>
          <p:nvPr/>
        </p:nvSpPr>
        <p:spPr>
          <a:xfrm>
            <a:off x="8371637" y="2286000"/>
            <a:ext cx="2905658" cy="1051560"/>
          </a:xfrm>
          <a:prstGeom prst="rect">
            <a:avLst/>
          </a:prstGeom>
          <a:noFill/>
          <a:ln/>
        </p:spPr>
        <p:txBody>
          <a:bodyPr wrap="square" lIns="0" tIns="0" rIns="0" bIns="0" rtlCol="0" anchor="t"/>
          <a:lstStyle/>
          <a:p>
            <a:pPr indent="0" marL="0">
              <a:buNone/>
            </a:pPr>
            <a:r>
              <a:rPr lang="en-US" sz="1600" dirty="0">
                <a:solidFill>
                  <a:schemeClr val="bg1"/>
                </a:solidFill>
              </a:rPr>
              <a:t>Smoke test innan miljön släpps. Ingen får den direkt när den kommer upp.</a:t>
            </a:r>
            <a:endParaRPr lang="en-US" sz="1600" dirty="0"/>
          </a:p>
        </p:txBody>
      </p:sp>
      <p:sp>
        <p:nvSpPr>
          <p:cNvPr id="12" name="Shape 10"/>
          <p:cNvSpPr/>
          <p:nvPr/>
        </p:nvSpPr>
        <p:spPr>
          <a:xfrm>
            <a:off x="640080" y="3794760"/>
            <a:ext cx="3454298" cy="2011680"/>
          </a:xfrm>
          <a:prstGeom prst="roundRect">
            <a:avLst>
              <a:gd name="adj" fmla="val 4545"/>
            </a:avLst>
          </a:prstGeom>
          <a:solidFill>
            <a:schemeClr val="accent4"/>
          </a:solidFill>
          <a:ln/>
        </p:spPr>
      </p:sp>
      <p:sp>
        <p:nvSpPr>
          <p:cNvPr id="13" name="Text 11"/>
          <p:cNvSpPr txBox="1"/>
          <p:nvPr/>
        </p:nvSpPr>
        <p:spPr>
          <a:xfrm>
            <a:off x="914400" y="4069080"/>
            <a:ext cx="2905658" cy="411480"/>
          </a:xfrm>
          <a:prstGeom prst="rect">
            <a:avLst/>
          </a:prstGeom>
          <a:noFill/>
          <a:ln/>
        </p:spPr>
        <p:txBody>
          <a:bodyPr wrap="square" lIns="0" tIns="0" rIns="0" bIns="0" rtlCol="0" anchor="t"/>
          <a:lstStyle/>
          <a:p>
            <a:pPr indent="0" marL="0">
              <a:buNone/>
            </a:pPr>
            <a:r>
              <a:rPr lang="en-US" sz="1800" b="1" dirty="0">
                <a:solidFill>
                  <a:srgbClr val="E89A55"/>
                </a:solidFill>
              </a:rPr>
              <a:t>4 · Prioritera om</a:t>
            </a:r>
            <a:endParaRPr lang="en-US" sz="1800" dirty="0"/>
          </a:p>
        </p:txBody>
      </p:sp>
      <p:sp>
        <p:nvSpPr>
          <p:cNvPr id="14" name="Text 12"/>
          <p:cNvSpPr txBox="1"/>
          <p:nvPr/>
        </p:nvSpPr>
        <p:spPr>
          <a:xfrm>
            <a:off x="914400" y="4572000"/>
            <a:ext cx="2905658" cy="1051560"/>
          </a:xfrm>
          <a:prstGeom prst="rect">
            <a:avLst/>
          </a:prstGeom>
          <a:noFill/>
          <a:ln/>
        </p:spPr>
        <p:txBody>
          <a:bodyPr wrap="square" lIns="0" tIns="0" rIns="0" bIns="0" rtlCol="0" anchor="t"/>
          <a:lstStyle/>
          <a:p>
            <a:pPr indent="0" marL="0">
              <a:buNone/>
            </a:pPr>
            <a:r>
              <a:rPr lang="en-US" sz="1600" dirty="0">
                <a:solidFill>
                  <a:schemeClr val="bg1"/>
                </a:solidFill>
              </a:rPr>
              <a:t>Team A fortsätter först. Team C får luckan om A inte kan köra.</a:t>
            </a:r>
            <a:endParaRPr lang="en-US" sz="1600" dirty="0"/>
          </a:p>
        </p:txBody>
      </p:sp>
      <p:sp>
        <p:nvSpPr>
          <p:cNvPr id="15" name="Shape 13"/>
          <p:cNvSpPr/>
          <p:nvPr/>
        </p:nvSpPr>
        <p:spPr>
          <a:xfrm>
            <a:off x="4368698" y="3794760"/>
            <a:ext cx="3454298" cy="2011680"/>
          </a:xfrm>
          <a:prstGeom prst="roundRect">
            <a:avLst>
              <a:gd name="adj" fmla="val 4545"/>
            </a:avLst>
          </a:prstGeom>
          <a:solidFill>
            <a:schemeClr val="accent4"/>
          </a:solidFill>
          <a:ln/>
        </p:spPr>
      </p:sp>
      <p:sp>
        <p:nvSpPr>
          <p:cNvPr id="16" name="Text 14"/>
          <p:cNvSpPr txBox="1"/>
          <p:nvPr/>
        </p:nvSpPr>
        <p:spPr>
          <a:xfrm>
            <a:off x="4643018" y="4069080"/>
            <a:ext cx="2905658" cy="411480"/>
          </a:xfrm>
          <a:prstGeom prst="rect">
            <a:avLst/>
          </a:prstGeom>
          <a:noFill/>
          <a:ln/>
        </p:spPr>
        <p:txBody>
          <a:bodyPr wrap="square" lIns="0" tIns="0" rIns="0" bIns="0" rtlCol="0" anchor="t"/>
          <a:lstStyle/>
          <a:p>
            <a:pPr indent="0" marL="0">
              <a:buNone/>
            </a:pPr>
            <a:r>
              <a:rPr lang="en-US" sz="1800" b="1" dirty="0">
                <a:solidFill>
                  <a:srgbClr val="E89A55"/>
                </a:solidFill>
              </a:rPr>
              <a:t>5 · Justera planen</a:t>
            </a:r>
            <a:endParaRPr lang="en-US" sz="1800" dirty="0"/>
          </a:p>
        </p:txBody>
      </p:sp>
      <p:sp>
        <p:nvSpPr>
          <p:cNvPr id="17" name="Text 15"/>
          <p:cNvSpPr txBox="1"/>
          <p:nvPr/>
        </p:nvSpPr>
        <p:spPr>
          <a:xfrm>
            <a:off x="4643018" y="4572000"/>
            <a:ext cx="2905658" cy="1051560"/>
          </a:xfrm>
          <a:prstGeom prst="rect">
            <a:avLst/>
          </a:prstGeom>
          <a:noFill/>
          <a:ln/>
        </p:spPr>
        <p:txBody>
          <a:bodyPr wrap="square" lIns="0" tIns="0" rIns="0" bIns="0" rtlCol="0" anchor="t"/>
          <a:lstStyle/>
          <a:p>
            <a:pPr indent="0" marL="0">
              <a:buNone/>
            </a:pPr>
            <a:r>
              <a:rPr lang="en-US" sz="1600" dirty="0">
                <a:solidFill>
                  <a:schemeClr val="bg1"/>
                </a:solidFill>
              </a:rPr>
              <a:t>A kan behöva onsdag, C skjuts fram. Båda releaserna är utsatta.</a:t>
            </a:r>
            <a:endParaRPr lang="en-US" sz="1600" dirty="0"/>
          </a:p>
        </p:txBody>
      </p:sp>
      <p:sp>
        <p:nvSpPr>
          <p:cNvPr id="18" name="Shape 16"/>
          <p:cNvSpPr/>
          <p:nvPr/>
        </p:nvSpPr>
        <p:spPr>
          <a:xfrm>
            <a:off x="8097317" y="3794760"/>
            <a:ext cx="3454298" cy="2011680"/>
          </a:xfrm>
          <a:prstGeom prst="roundRect">
            <a:avLst>
              <a:gd name="adj" fmla="val 4545"/>
            </a:avLst>
          </a:prstGeom>
          <a:solidFill>
            <a:schemeClr val="accent4"/>
          </a:solidFill>
          <a:ln/>
        </p:spPr>
      </p:sp>
      <p:sp>
        <p:nvSpPr>
          <p:cNvPr id="19" name="Text 17"/>
          <p:cNvSpPr txBox="1"/>
          <p:nvPr/>
        </p:nvSpPr>
        <p:spPr>
          <a:xfrm>
            <a:off x="8371637" y="4069080"/>
            <a:ext cx="2905658" cy="411480"/>
          </a:xfrm>
          <a:prstGeom prst="rect">
            <a:avLst/>
          </a:prstGeom>
          <a:noFill/>
          <a:ln/>
        </p:spPr>
        <p:txBody>
          <a:bodyPr wrap="square" lIns="0" tIns="0" rIns="0" bIns="0" rtlCol="0" anchor="t"/>
          <a:lstStyle/>
          <a:p>
            <a:pPr indent="0" marL="0">
              <a:buNone/>
            </a:pPr>
            <a:r>
              <a:rPr lang="en-US" sz="1800" b="1" dirty="0">
                <a:solidFill>
                  <a:srgbClr val="E89A55"/>
                </a:solidFill>
              </a:rPr>
              <a:t>6 · Rapportera</a:t>
            </a:r>
            <a:endParaRPr lang="en-US" sz="1800" dirty="0"/>
          </a:p>
        </p:txBody>
      </p:sp>
      <p:sp>
        <p:nvSpPr>
          <p:cNvPr id="20" name="Text 18"/>
          <p:cNvSpPr txBox="1"/>
          <p:nvPr/>
        </p:nvSpPr>
        <p:spPr>
          <a:xfrm>
            <a:off x="8371637" y="4572000"/>
            <a:ext cx="2905658" cy="1051560"/>
          </a:xfrm>
          <a:prstGeom prst="rect">
            <a:avLst/>
          </a:prstGeom>
          <a:noFill/>
          <a:ln/>
        </p:spPr>
        <p:txBody>
          <a:bodyPr wrap="square" lIns="0" tIns="0" rIns="0" bIns="0" rtlCol="0" anchor="t"/>
          <a:lstStyle/>
          <a:p>
            <a:pPr indent="0" marL="0">
              <a:buNone/>
            </a:pPr>
            <a:r>
              <a:rPr lang="en-US" sz="1600" dirty="0">
                <a:solidFill>
                  <a:schemeClr val="bg1"/>
                </a:solidFill>
              </a:rPr>
              <a:t>Läge, risk, beslut som behövs och nästa uppdatering inom 1 h.</a:t>
            </a:r>
            <a:endParaRPr lang="en-US" sz="1600" dirty="0"/>
          </a:p>
        </p:txBody>
      </p:sp>
    </p:spTree>
  </p:cSld>
  <p:clrMapOvr>
    <a:masterClrMapping/>
  </p:clrMapOvr>
</p:sld>
</file>

<file path=ppt/theme/theme1.xml><?xml version="1.0" encoding="utf-8"?>
<a:theme xmlns:a="http://schemas.openxmlformats.org/drawingml/2006/main" name="NordicShop WS9">
  <a:themeElements>
    <a:clrScheme name="NordicShop WS9">
      <a:dk1>
        <a:srgbClr val="1E2A38"/>
      </a:dk1>
      <a:lt1>
        <a:srgbClr val="FFFFFF"/>
      </a:lt1>
      <a:dk2>
        <a:srgbClr val="4A5568"/>
      </a:dk2>
      <a:lt2>
        <a:srgbClr val="F3F1EC"/>
      </a:lt2>
      <a:accent1>
        <a:srgbClr val="2F6690"/>
      </a:accent1>
      <a:accent2>
        <a:srgbClr val="C8692A"/>
      </a:accent2>
      <a:accent3>
        <a:srgbClr val="8A7F73"/>
      </a:accent3>
      <a:accent4>
        <a:srgbClr val="2A3A4D"/>
      </a:accent4>
      <a:accent5>
        <a:srgbClr val="F3DCC8"/>
      </a:accent5>
      <a:accent6>
        <a:srgbClr val="D6E4F0"/>
      </a:accent6>
      <a:hlink>
        <a:srgbClr val="2F6690"/>
      </a:hlink>
      <a:folHlink>
        <a:srgbClr val="6B6157"/>
      </a:folHlink>
    </a:clrScheme>
    <a:fontScheme name="NordicShop WS9">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WS9 – Tre team, en testmiljö</dc:title>
  <dc:subject>PptxGenJS Presentation</dc:subject>
  <dc:creator>PptxGenJS</dc:creator>
  <cp:lastModifiedBy>PptxGenJS</cp:lastModifiedBy>
  <cp:revision>1</cp:revision>
  <dcterms:created xsi:type="dcterms:W3CDTF">2026-10-07T13:51:36Z</dcterms:created>
  <dcterms:modified xsi:type="dcterms:W3CDTF">2026-10-07T13:51:36Z</dcterms:modified>
</cp:coreProperties>
</file>