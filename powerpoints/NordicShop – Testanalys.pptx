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Presentera gruppen. Vi har agerat testledare för NordicShops nya e-handelsplattform. Presentationen följer arbetsgången identifiera, prioritera, motivera: vad ska testas, vad är viktigast, och varför.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om caset. Kort tid till release, delad testmiljö, ett gammalt lagersystem och tre externa leverantörer. Dessa fyra förutsättningar styr mycket av våra prioriteringar och risker längre fram.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delade upp webben och appen i två testobjekt: funktion (Hög) och utseende (Låg/Medel), eftersom de har helt olika konsekvens vid fel. Allt som rör pengar, lager och order har Hög. Leverans, notiser och admin är viktiga men stoppar inte ett köp på samma sätt – därför Medel.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vår röda tråd. Varje gång vi har prioriterat har vi frågat: vad händer för kunden och för NordicShop om just detta går fel? Ju närmare pengar, lagersaldo och order, desto högre prioritet.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valde fyra flöden i stället för minimikravet tre. Alla fyra har Hög kritikalitet eftersom ett fel i något av dem antingen stoppar försäljningen, skapar felaktiga ordrar eller låser ute kunder. Flöde 1 berör flest system och är därför det bredaste att testa.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path från sökning till bekräftelsemejl. Övre raden är det kunden gör i webb eller app, nedre raden är det som händer i backend. Sex system är inblandade: webb/app, backend, Payment Provider, lagersystemet, Delivery Provider och e-post/SMS. Därför är detta vårt viktigaste regressionsflöde – om det inte fungerar säljer NordicShop ingenting.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Flöde 2 stödjer målet att minska manuellt arbete för kundservice – fyra steg måste lyckas i rätt ordning (K9). Flöde 3 är ett gränsfall: två kunder köper sista varan samtidigt, vilket testar att lagersaldot hanteras korrekt (K3, K6). Flöde 4 är säkerhetsflödet: kontot ska låsas i 30 minuter efter tre felaktiga försök, men inte låsas felaktigt.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Alla fyra integrationer utgår från Backend/Order Service. Tre går till externa leverantörer och en till det gamla interna lagersystemet. Det farligaste felet är betalningen: kunden har betalat men ingen order skapas, eller kunden debiteras två gånger. Det bryter direkt mot K5.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Relationen är ett utbyte åt båda hållen. PO prioriterar och fattar Go/No-Go-beslutet, därför behöver PO vår teststatus. Utvecklingsteamen kan svara på tekniska frågor. Externa leverantörer äger betalning, leverans och notiser – utan deras testmiljöer och testdata kan vi inte testa integrationerna.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Risknivån är en kombination av sannolikhet och konsekvens. Lagersystemet får Kritisk eftersom både sannolikhet och konsekvens är höga: systemet är gammalt, dåligt dokumenterat och ingår i nästan alla kritiska flöden. Dubbeldebitering har låg sannolikhet, men konsekvensen är så allvarlig att risken ändå blir Hög.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Varje risk har en konkret teståtgärd. Det viktigaste är att börja tidigt med lagersystemet – med fyra månader kvar har vi inte råd att upptäcka integrationsproblem sent. Mockar för betalningen gör oss oberoende av leverantörens testmiljö, och röktester skyddar den delade miljön från trasiga byggen.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Svaren på de här frågorna påverkar direkt hur teststrategin ser ut. Frågan om lagersystemets gränssnitt avgör till exempel om vi kan automatisera integrationstesterna eller måste testa mer manuellt. Prestandamålen behöver vara mätbara, annars kan vi inte avgöra om kravet är uppfyllt.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Knyt ihop: vi har identifierat vad som ska testas, prioriterat utifrån konsekvens för kund och verksamhet, och kan motivera varför. Nästa steg är att få svar på våra frågor och sedan skriva teststrategin. Öppna för frågor.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2B"/>
        </a:solidFill>
      </p:bgPr>
    </p:bg>
    <p:spTree>
      <p:nvGrpSpPr>
        <p:cNvPr id="1" name=""/>
        <p:cNvGrpSpPr/>
        <p:nvPr/>
      </p:nvGrpSpPr>
      <p:grpSpPr>
        <a:xfrm>
          <a:off x="0" y="0"/>
          <a:ext cx="0" cy="0"/>
          <a:chOff x="0" y="0"/>
          <a:chExt cx="0" cy="0"/>
        </a:xfrm>
      </p:grpSpPr>
      <p:sp>
        <p:nvSpPr>
          <p:cNvPr id="2" name="Text 0"/>
          <p:cNvSpPr/>
          <p:nvPr/>
        </p:nvSpPr>
        <p:spPr>
          <a:xfrm>
            <a:off x="812800" y="21894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8A5D"/>
                </a:solidFill>
                <a:latin typeface="IBM Plex Sans" pitchFamily="34" charset="0"/>
                <a:ea typeface="IBM Plex Sans" pitchFamily="34" charset="-122"/>
                <a:cs typeface="IBM Plex Sans" pitchFamily="34" charset="-120"/>
              </a:rPr>
              <a:t>WORKSHOP · FRÅN PROJEKT TILL TESTBEHOV</a:t>
            </a:r>
            <a:endParaRPr lang="en-US" sz="1400" dirty="0"/>
          </a:p>
        </p:txBody>
      </p:sp>
      <p:sp>
        <p:nvSpPr>
          <p:cNvPr id="3" name="Text 1"/>
          <p:cNvSpPr/>
          <p:nvPr/>
        </p:nvSpPr>
        <p:spPr>
          <a:xfrm>
            <a:off x="812800" y="264160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3F0E8"/>
                </a:solidFill>
                <a:latin typeface="Space Grotesk" pitchFamily="34" charset="0"/>
                <a:ea typeface="Space Grotesk" pitchFamily="34" charset="-122"/>
                <a:cs typeface="Space Grotesk" pitchFamily="34" charset="-120"/>
              </a:rPr>
              <a:t>NordicShop</a:t>
            </a:r>
            <a:endParaRPr lang="en-US" sz="7000" dirty="0"/>
          </a:p>
        </p:txBody>
      </p:sp>
      <p:sp>
        <p:nvSpPr>
          <p:cNvPr id="4" name="Text 2"/>
          <p:cNvSpPr/>
          <p:nvPr/>
        </p:nvSpPr>
        <p:spPr>
          <a:xfrm>
            <a:off x="812800" y="3733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BFCBCC"/>
                </a:solidFill>
                <a:latin typeface="Space Grotesk" pitchFamily="34" charset="0"/>
                <a:ea typeface="Space Grotesk" pitchFamily="34" charset="-122"/>
                <a:cs typeface="Space Grotesk" pitchFamily="34" charset="-120"/>
              </a:rPr>
              <a:t>Testanalys inför teststrategin</a:t>
            </a:r>
            <a:endParaRPr lang="en-US" sz="3200" dirty="0"/>
          </a:p>
        </p:txBody>
      </p:sp>
      <p:sp>
        <p:nvSpPr>
          <p:cNvPr id="5" name="Text 3"/>
          <p:cNvSpPr/>
          <p:nvPr/>
        </p:nvSpPr>
        <p:spPr>
          <a:xfrm>
            <a:off x="812800" y="4384014"/>
            <a:ext cx="105363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Identifiera</a:t>
            </a:r>
            <a:endParaRPr lang="en-US" sz="1600" dirty="0"/>
          </a:p>
        </p:txBody>
      </p:sp>
      <p:sp>
        <p:nvSpPr>
          <p:cNvPr id="6" name="Text 4"/>
          <p:cNvSpPr/>
          <p:nvPr/>
        </p:nvSpPr>
        <p:spPr>
          <a:xfrm>
            <a:off x="1968037" y="4384014"/>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8A5D"/>
                </a:solidFill>
                <a:latin typeface="IBM Plex Sans" pitchFamily="34" charset="0"/>
                <a:ea typeface="IBM Plex Sans" pitchFamily="34" charset="-122"/>
                <a:cs typeface="IBM Plex Sans" pitchFamily="34" charset="-120"/>
              </a:rPr>
              <a:t>→</a:t>
            </a:r>
            <a:endParaRPr lang="en-US" sz="1600" dirty="0"/>
          </a:p>
        </p:txBody>
      </p:sp>
      <p:sp>
        <p:nvSpPr>
          <p:cNvPr id="7" name="Text 5"/>
          <p:cNvSpPr/>
          <p:nvPr/>
        </p:nvSpPr>
        <p:spPr>
          <a:xfrm>
            <a:off x="2323637" y="4384014"/>
            <a:ext cx="94469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Prioritera</a:t>
            </a:r>
            <a:endParaRPr lang="en-US" sz="1600" dirty="0"/>
          </a:p>
        </p:txBody>
      </p:sp>
      <p:sp>
        <p:nvSpPr>
          <p:cNvPr id="8" name="Text 6"/>
          <p:cNvSpPr/>
          <p:nvPr/>
        </p:nvSpPr>
        <p:spPr>
          <a:xfrm>
            <a:off x="3369932" y="4384014"/>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8A5D"/>
                </a:solidFill>
                <a:latin typeface="IBM Plex Sans" pitchFamily="34" charset="0"/>
                <a:ea typeface="IBM Plex Sans" pitchFamily="34" charset="-122"/>
                <a:cs typeface="IBM Plex Sans" pitchFamily="34" charset="-120"/>
              </a:rPr>
              <a:t>→</a:t>
            </a:r>
            <a:endParaRPr lang="en-US" sz="1600" dirty="0"/>
          </a:p>
        </p:txBody>
      </p:sp>
      <p:sp>
        <p:nvSpPr>
          <p:cNvPr id="9" name="Text 7"/>
          <p:cNvSpPr/>
          <p:nvPr/>
        </p:nvSpPr>
        <p:spPr>
          <a:xfrm>
            <a:off x="3725532" y="4384014"/>
            <a:ext cx="871736"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Motivera</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CC"/>
                </a:solidFill>
                <a:latin typeface="IBM Plex Sans" pitchFamily="34" charset="0"/>
                <a:ea typeface="IBM Plex Sans" pitchFamily="34" charset="-122"/>
                <a:cs typeface="IBM Plex Sans" pitchFamily="34" charset="-120"/>
              </a:rPr>
              <a:t>[Gruppnamn] · [Namn på gruppmedlemmar]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UTGÅNGSLÄGET</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En ny e-handelsplattform på fyra månader</a:t>
            </a:r>
            <a:endParaRPr lang="en-US" sz="3200" dirty="0"/>
          </a:p>
        </p:txBody>
      </p:sp>
      <p:sp>
        <p:nvSpPr>
          <p:cNvPr id="4" name="Shape 2"/>
          <p:cNvSpPr/>
          <p:nvPr/>
        </p:nvSpPr>
        <p:spPr>
          <a:xfrm>
            <a:off x="815975" y="1857309"/>
            <a:ext cx="2482850" cy="2095037"/>
          </a:xfrm>
          <a:prstGeom prst="roundRect">
            <a:avLst>
              <a:gd name="adj" fmla="val 4698"/>
            </a:avLst>
          </a:prstGeom>
          <a:solidFill>
            <a:srgbClr val="FBFAF6"/>
          </a:solidFill>
          <a:ln w="6350">
            <a:solidFill>
              <a:srgbClr val="DDD7CA"/>
            </a:solidFill>
            <a:prstDash val="solid"/>
          </a:ln>
        </p:spPr>
      </p:sp>
      <p:sp>
        <p:nvSpPr>
          <p:cNvPr id="5" name="Text 3"/>
          <p:cNvSpPr/>
          <p:nvPr/>
        </p:nvSpPr>
        <p:spPr>
          <a:xfrm>
            <a:off x="1071033" y="2112367"/>
            <a:ext cx="203191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2431F"/>
                </a:solidFill>
                <a:latin typeface="Space Grotesk" pitchFamily="34" charset="0"/>
                <a:ea typeface="Space Grotesk" pitchFamily="34" charset="-122"/>
                <a:cs typeface="Space Grotesk" pitchFamily="34" charset="-120"/>
              </a:rPr>
              <a:t>4</a:t>
            </a:r>
            <a:endParaRPr lang="en-US" sz="6000" dirty="0"/>
          </a:p>
        </p:txBody>
      </p:sp>
      <p:sp>
        <p:nvSpPr>
          <p:cNvPr id="6" name="Text 4"/>
          <p:cNvSpPr/>
          <p:nvPr/>
        </p:nvSpPr>
        <p:spPr>
          <a:xfrm>
            <a:off x="1071033" y="2950567"/>
            <a:ext cx="203191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månader till produktionsrelease</a:t>
            </a:r>
            <a:endParaRPr lang="en-US" sz="1400" dirty="0"/>
          </a:p>
        </p:txBody>
      </p:sp>
      <p:sp>
        <p:nvSpPr>
          <p:cNvPr id="7" name="Shape 5"/>
          <p:cNvSpPr/>
          <p:nvPr/>
        </p:nvSpPr>
        <p:spPr>
          <a:xfrm>
            <a:off x="3508375" y="1857309"/>
            <a:ext cx="2482850" cy="2095037"/>
          </a:xfrm>
          <a:prstGeom prst="roundRect">
            <a:avLst>
              <a:gd name="adj" fmla="val 4698"/>
            </a:avLst>
          </a:prstGeom>
          <a:solidFill>
            <a:srgbClr val="FBFAF6"/>
          </a:solidFill>
          <a:ln w="6350">
            <a:solidFill>
              <a:srgbClr val="DDD7CA"/>
            </a:solidFill>
            <a:prstDash val="solid"/>
          </a:ln>
        </p:spPr>
      </p:sp>
      <p:sp>
        <p:nvSpPr>
          <p:cNvPr id="8" name="Text 6"/>
          <p:cNvSpPr/>
          <p:nvPr/>
        </p:nvSpPr>
        <p:spPr>
          <a:xfrm>
            <a:off x="3763433" y="2112367"/>
            <a:ext cx="203191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2431F"/>
                </a:solidFill>
                <a:latin typeface="Space Grotesk" pitchFamily="34" charset="0"/>
                <a:ea typeface="Space Grotesk" pitchFamily="34" charset="-122"/>
                <a:cs typeface="Space Grotesk" pitchFamily="34" charset="-120"/>
              </a:rPr>
              <a:t>3</a:t>
            </a:r>
            <a:endParaRPr lang="en-US" sz="6000" dirty="0"/>
          </a:p>
        </p:txBody>
      </p:sp>
      <p:sp>
        <p:nvSpPr>
          <p:cNvPr id="9" name="Text 7"/>
          <p:cNvSpPr/>
          <p:nvPr/>
        </p:nvSpPr>
        <p:spPr>
          <a:xfrm>
            <a:off x="3763433" y="2950567"/>
            <a:ext cx="203191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utvecklingsteam delar en gemensam testmiljö</a:t>
            </a:r>
            <a:endParaRPr lang="en-US" sz="1400" dirty="0"/>
          </a:p>
        </p:txBody>
      </p:sp>
      <p:sp>
        <p:nvSpPr>
          <p:cNvPr id="10" name="Shape 8"/>
          <p:cNvSpPr/>
          <p:nvPr/>
        </p:nvSpPr>
        <p:spPr>
          <a:xfrm>
            <a:off x="6200775" y="1857309"/>
            <a:ext cx="2482850" cy="2095037"/>
          </a:xfrm>
          <a:prstGeom prst="roundRect">
            <a:avLst>
              <a:gd name="adj" fmla="val 4698"/>
            </a:avLst>
          </a:prstGeom>
          <a:solidFill>
            <a:srgbClr val="FBFAF6"/>
          </a:solidFill>
          <a:ln w="6350">
            <a:solidFill>
              <a:srgbClr val="DDD7CA"/>
            </a:solidFill>
            <a:prstDash val="solid"/>
          </a:ln>
        </p:spPr>
      </p:sp>
      <p:sp>
        <p:nvSpPr>
          <p:cNvPr id="11" name="Text 9"/>
          <p:cNvSpPr/>
          <p:nvPr/>
        </p:nvSpPr>
        <p:spPr>
          <a:xfrm>
            <a:off x="6455833" y="2112367"/>
            <a:ext cx="203191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2431F"/>
                </a:solidFill>
                <a:latin typeface="Space Grotesk" pitchFamily="34" charset="0"/>
                <a:ea typeface="Space Grotesk" pitchFamily="34" charset="-122"/>
                <a:cs typeface="Space Grotesk" pitchFamily="34" charset="-120"/>
              </a:rPr>
              <a:t>15</a:t>
            </a:r>
            <a:endParaRPr lang="en-US" sz="6000" dirty="0"/>
          </a:p>
        </p:txBody>
      </p:sp>
      <p:sp>
        <p:nvSpPr>
          <p:cNvPr id="12" name="Text 10"/>
          <p:cNvSpPr/>
          <p:nvPr/>
        </p:nvSpPr>
        <p:spPr>
          <a:xfrm>
            <a:off x="6455833" y="2950567"/>
            <a:ext cx="2031915"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år gammalt lagersystem med begränsad dokumentation</a:t>
            </a:r>
            <a:endParaRPr lang="en-US" sz="1400" dirty="0"/>
          </a:p>
        </p:txBody>
      </p:sp>
      <p:sp>
        <p:nvSpPr>
          <p:cNvPr id="13" name="Shape 11"/>
          <p:cNvSpPr/>
          <p:nvPr/>
        </p:nvSpPr>
        <p:spPr>
          <a:xfrm>
            <a:off x="8893175" y="1857309"/>
            <a:ext cx="2482850" cy="2095037"/>
          </a:xfrm>
          <a:prstGeom prst="roundRect">
            <a:avLst>
              <a:gd name="adj" fmla="val 4698"/>
            </a:avLst>
          </a:prstGeom>
          <a:solidFill>
            <a:srgbClr val="FBFAF6"/>
          </a:solidFill>
          <a:ln w="6350">
            <a:solidFill>
              <a:srgbClr val="DDD7CA"/>
            </a:solidFill>
            <a:prstDash val="solid"/>
          </a:ln>
        </p:spPr>
      </p:sp>
      <p:sp>
        <p:nvSpPr>
          <p:cNvPr id="14" name="Text 12"/>
          <p:cNvSpPr/>
          <p:nvPr/>
        </p:nvSpPr>
        <p:spPr>
          <a:xfrm>
            <a:off x="9148234" y="2112367"/>
            <a:ext cx="2031915"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2431F"/>
                </a:solidFill>
                <a:latin typeface="Space Grotesk" pitchFamily="34" charset="0"/>
                <a:ea typeface="Space Grotesk" pitchFamily="34" charset="-122"/>
                <a:cs typeface="Space Grotesk" pitchFamily="34" charset="-120"/>
              </a:rPr>
              <a:t>3</a:t>
            </a:r>
            <a:endParaRPr lang="en-US" sz="6000" dirty="0"/>
          </a:p>
        </p:txBody>
      </p:sp>
      <p:sp>
        <p:nvSpPr>
          <p:cNvPr id="15" name="Text 13"/>
          <p:cNvSpPr/>
          <p:nvPr/>
        </p:nvSpPr>
        <p:spPr>
          <a:xfrm>
            <a:off x="9148234" y="2950567"/>
            <a:ext cx="2031915"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externa leverantörer: betalning, leverans, e-post/SMS</a:t>
            </a:r>
            <a:endParaRPr lang="en-US" sz="1400" dirty="0"/>
          </a:p>
        </p:txBody>
      </p:sp>
      <p:sp>
        <p:nvSpPr>
          <p:cNvPr id="16" name="Text 14"/>
          <p:cNvSpPr/>
          <p:nvPr/>
        </p:nvSpPr>
        <p:spPr>
          <a:xfrm>
            <a:off x="812800" y="4260321"/>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32B"/>
                </a:solidFill>
                <a:latin typeface="IBM Plex Sans" pitchFamily="34" charset="0"/>
                <a:ea typeface="IBM Plex Sans" pitchFamily="34" charset="-122"/>
                <a:cs typeface="IBM Plex Sans" pitchFamily="34" charset="-120"/>
              </a:rPr>
              <a:t>Vår uppgift: gå från projektinformation till testbehov – innan teststrategin skrivs.</a:t>
            </a:r>
            <a:endParaRPr lang="en-US" sz="1600" dirty="0"/>
          </a:p>
        </p:txBody>
      </p:sp>
      <p:sp>
        <p:nvSpPr>
          <p:cNvPr id="17" name="Text 15"/>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18" name="Text 16"/>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1 · TESTOBJEKT</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Åtta testobjekt, tre prioritetsnivåer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03335"/>
          <a:ext cx="10566400" cy="3177183"/>
        </p:xfrm>
        <a:graphic>
          <a:graphicData uri="http://schemas.openxmlformats.org/drawingml/2006/table">
            <a:tbl>
              <a:tblPr/>
              <a:tblGrid>
                <a:gridCol w="3415402"/>
                <a:gridCol w="5229834"/>
                <a:gridCol w="1921164"/>
              </a:tblGrid>
              <a:tr h="353020">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Testobjekt</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Vad behöver verifieras?</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Prioritet</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Webb / Mobilapp – funktion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Registrering, sök, kundvagn och betalning hela vägen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Backend / Order Service</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Affärslogik, orderstatus, API-anrop, e-post/SMS</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Lagersystem (integration)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Korrekt lagersaldo vid köp och avbeställning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Payment Provider (integration)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Godkänd/nekad betalning, ingen dubbeldebitering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Delivery Provider (integration)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Rätt leveransalternativ (hem/ombud) och priser</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8A6212"/>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E-post / SMS (integration)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Order- och avbeställningsbekräftelser med rätt innehåll</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8A6212"/>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Administrationsverktyg</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Behörigheter, produkter, priser och rabattkoder</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8A6212"/>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3530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Webb / Mobilapp – UI/UX</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Layout, typsnitt och grafisk profil enligt Figma</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Låg / Medel</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bl>
          </a:graphicData>
        </a:graphic>
      </p:graphicFrame>
      <p:sp>
        <p:nvSpPr>
          <p:cNvPr id="5" name="Text 2"/>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6" name="Text 3"/>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2431F"/>
        </a:solidFill>
      </p:bgPr>
    </p:bg>
    <p:spTree>
      <p:nvGrpSpPr>
        <p:cNvPr id="1" name=""/>
        <p:cNvGrpSpPr/>
        <p:nvPr/>
      </p:nvGrpSpPr>
      <p:grpSpPr>
        <a:xfrm>
          <a:off x="0" y="0"/>
          <a:ext cx="0" cy="0"/>
          <a:chOff x="0" y="0"/>
          <a:chExt cx="0" cy="0"/>
        </a:xfrm>
      </p:grpSpPr>
      <p:sp>
        <p:nvSpPr>
          <p:cNvPr id="2" name="Text 0"/>
          <p:cNvSpPr/>
          <p:nvPr/>
        </p:nvSpPr>
        <p:spPr>
          <a:xfrm>
            <a:off x="812800" y="21133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BF6F0"/>
                </a:solidFill>
                <a:latin typeface="IBM Plex Sans" pitchFamily="34" charset="0"/>
                <a:ea typeface="IBM Plex Sans" pitchFamily="34" charset="-122"/>
                <a:cs typeface="IBM Plex Sans" pitchFamily="34" charset="-120"/>
              </a:rPr>
              <a:t>VARFÖR DEN HÄR PRIORITERINGEN?</a:t>
            </a:r>
            <a:endParaRPr lang="en-US" sz="1200" dirty="0"/>
          </a:p>
        </p:txBody>
      </p:sp>
      <p:sp>
        <p:nvSpPr>
          <p:cNvPr id="3" name="Text 1"/>
          <p:cNvSpPr/>
          <p:nvPr/>
        </p:nvSpPr>
        <p:spPr>
          <a:xfrm>
            <a:off x="812800" y="258068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BF6F0"/>
                </a:solidFill>
                <a:latin typeface="Space Grotesk" pitchFamily="34" charset="0"/>
                <a:ea typeface="Space Grotesk" pitchFamily="34" charset="-122"/>
                <a:cs typeface="Space Grotesk" pitchFamily="34" charset="-120"/>
              </a:rPr>
              <a:t>Hög prioritet där ett fel kostar pengar, lager eller ordrar.</a:t>
            </a:r>
            <a:endParaRPr lang="en-US" sz="4800" dirty="0"/>
          </a:p>
        </p:txBody>
      </p:sp>
      <p:sp>
        <p:nvSpPr>
          <p:cNvPr id="4" name="Text 2"/>
          <p:cNvSpPr/>
          <p:nvPr/>
        </p:nvSpPr>
        <p:spPr>
          <a:xfrm>
            <a:off x="812800" y="4175720"/>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6F0"/>
                </a:solidFill>
                <a:latin typeface="IBM Plex Sans" pitchFamily="34" charset="0"/>
                <a:ea typeface="IBM Plex Sans" pitchFamily="34" charset="-122"/>
                <a:cs typeface="IBM Plex Sans" pitchFamily="34" charset="-120"/>
              </a:rPr>
              <a:t>Betalning, lagersaldo och orderflödet påverkar kunden och försäljningen direkt. Ett layoutfel går att rätta efter release – en dubbeldebitering går inte att ta tillbaka.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2 · KRITISKA AFFÄRSFLÖDEN</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Fyra E2E-flöden – alla med kritikalitet Hög</a:t>
            </a:r>
            <a:endParaRPr lang="en-US" sz="3200" dirty="0"/>
          </a:p>
        </p:txBody>
      </p:sp>
      <p:sp>
        <p:nvSpPr>
          <p:cNvPr id="4" name="Shape 2"/>
          <p:cNvSpPr/>
          <p:nvPr/>
        </p:nvSpPr>
        <p:spPr>
          <a:xfrm>
            <a:off x="815975" y="1857310"/>
            <a:ext cx="2482850" cy="2988866"/>
          </a:xfrm>
          <a:prstGeom prst="roundRect">
            <a:avLst>
              <a:gd name="adj" fmla="val 3964"/>
            </a:avLst>
          </a:prstGeom>
          <a:solidFill>
            <a:srgbClr val="FBFAF6"/>
          </a:solidFill>
          <a:ln w="6350">
            <a:solidFill>
              <a:srgbClr val="DDD7CA"/>
            </a:solidFill>
            <a:prstDash val="solid"/>
          </a:ln>
        </p:spPr>
      </p:sp>
      <p:sp>
        <p:nvSpPr>
          <p:cNvPr id="5" name="Text 3"/>
          <p:cNvSpPr/>
          <p:nvPr/>
        </p:nvSpPr>
        <p:spPr>
          <a:xfrm>
            <a:off x="1020233" y="2061567"/>
            <a:ext cx="213656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2431F"/>
                </a:solidFill>
                <a:latin typeface="Space Grotesk" pitchFamily="34" charset="0"/>
                <a:ea typeface="Space Grotesk" pitchFamily="34" charset="-122"/>
                <a:cs typeface="Space Grotesk" pitchFamily="34" charset="-120"/>
              </a:rPr>
              <a:t>01</a:t>
            </a:r>
            <a:endParaRPr lang="en-US" sz="3200" dirty="0"/>
          </a:p>
        </p:txBody>
      </p:sp>
      <p:sp>
        <p:nvSpPr>
          <p:cNvPr id="6" name="Text 4"/>
          <p:cNvSpPr/>
          <p:nvPr/>
        </p:nvSpPr>
        <p:spPr>
          <a:xfrm>
            <a:off x="1020233" y="2569567"/>
            <a:ext cx="213656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Standardköpet</a:t>
            </a:r>
            <a:endParaRPr lang="en-US" sz="1600" dirty="0"/>
          </a:p>
        </p:txBody>
      </p:sp>
      <p:sp>
        <p:nvSpPr>
          <p:cNvPr id="7" name="Text 5"/>
          <p:cNvSpPr/>
          <p:nvPr/>
        </p:nvSpPr>
        <p:spPr>
          <a:xfrm>
            <a:off x="1020233" y="2914982"/>
            <a:ext cx="2136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6 system ingår</a:t>
            </a:r>
            <a:endParaRPr lang="en-US" sz="1200" dirty="0"/>
          </a:p>
        </p:txBody>
      </p:sp>
      <p:sp>
        <p:nvSpPr>
          <p:cNvPr id="8" name="Text 6"/>
          <p:cNvSpPr/>
          <p:nvPr/>
        </p:nvSpPr>
        <p:spPr>
          <a:xfrm>
            <a:off x="1020233" y="3229902"/>
            <a:ext cx="21365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Om det fallerar:</a:t>
            </a:r>
            <a:endParaRPr lang="en-US" sz="1200" dirty="0"/>
          </a:p>
        </p:txBody>
      </p:sp>
      <p:sp>
        <p:nvSpPr>
          <p:cNvPr id="9" name="Text 7"/>
          <p:cNvSpPr/>
          <p:nvPr/>
        </p:nvSpPr>
        <p:spPr>
          <a:xfrm>
            <a:off x="1020233" y="3544822"/>
            <a:ext cx="2136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Totalt stopp i försäljningen.</a:t>
            </a:r>
            <a:endParaRPr lang="en-US" sz="1200" dirty="0"/>
          </a:p>
        </p:txBody>
      </p:sp>
      <p:sp>
        <p:nvSpPr>
          <p:cNvPr id="10" name="Shape 8"/>
          <p:cNvSpPr/>
          <p:nvPr/>
        </p:nvSpPr>
        <p:spPr>
          <a:xfrm>
            <a:off x="3508375" y="1857310"/>
            <a:ext cx="2482850" cy="2988866"/>
          </a:xfrm>
          <a:prstGeom prst="roundRect">
            <a:avLst>
              <a:gd name="adj" fmla="val 3964"/>
            </a:avLst>
          </a:prstGeom>
          <a:solidFill>
            <a:srgbClr val="FBFAF6"/>
          </a:solidFill>
          <a:ln w="6350">
            <a:solidFill>
              <a:srgbClr val="DDD7CA"/>
            </a:solidFill>
            <a:prstDash val="solid"/>
          </a:ln>
        </p:spPr>
      </p:sp>
      <p:sp>
        <p:nvSpPr>
          <p:cNvPr id="11" name="Text 9"/>
          <p:cNvSpPr/>
          <p:nvPr/>
        </p:nvSpPr>
        <p:spPr>
          <a:xfrm>
            <a:off x="3712633" y="2061567"/>
            <a:ext cx="213656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2431F"/>
                </a:solidFill>
                <a:latin typeface="Space Grotesk" pitchFamily="34" charset="0"/>
                <a:ea typeface="Space Grotesk" pitchFamily="34" charset="-122"/>
                <a:cs typeface="Space Grotesk" pitchFamily="34" charset="-120"/>
              </a:rPr>
              <a:t>02</a:t>
            </a:r>
            <a:endParaRPr lang="en-US" sz="3200" dirty="0"/>
          </a:p>
        </p:txBody>
      </p:sp>
      <p:sp>
        <p:nvSpPr>
          <p:cNvPr id="12" name="Text 10"/>
          <p:cNvSpPr/>
          <p:nvPr/>
        </p:nvSpPr>
        <p:spPr>
          <a:xfrm>
            <a:off x="3712633" y="2569567"/>
            <a:ext cx="2136563"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Avbeställning före leverans</a:t>
            </a:r>
            <a:endParaRPr lang="en-US" sz="1600" dirty="0"/>
          </a:p>
        </p:txBody>
      </p:sp>
      <p:sp>
        <p:nvSpPr>
          <p:cNvPr id="13" name="Text 11"/>
          <p:cNvSpPr/>
          <p:nvPr/>
        </p:nvSpPr>
        <p:spPr>
          <a:xfrm>
            <a:off x="3712633" y="3158796"/>
            <a:ext cx="2136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5 system ingår</a:t>
            </a:r>
            <a:endParaRPr lang="en-US" sz="1200" dirty="0"/>
          </a:p>
        </p:txBody>
      </p:sp>
      <p:sp>
        <p:nvSpPr>
          <p:cNvPr id="14" name="Text 12"/>
          <p:cNvSpPr/>
          <p:nvPr/>
        </p:nvSpPr>
        <p:spPr>
          <a:xfrm>
            <a:off x="3712633" y="3473717"/>
            <a:ext cx="21365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Om det fallerar:</a:t>
            </a:r>
            <a:endParaRPr lang="en-US" sz="1200" dirty="0"/>
          </a:p>
        </p:txBody>
      </p:sp>
      <p:sp>
        <p:nvSpPr>
          <p:cNvPr id="15" name="Text 13"/>
          <p:cNvSpPr/>
          <p:nvPr/>
        </p:nvSpPr>
        <p:spPr>
          <a:xfrm>
            <a:off x="3712633" y="3788637"/>
            <a:ext cx="213656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Felaktiga leveranser, missnöjda kunder och manuellt arbete för kundservice.</a:t>
            </a:r>
            <a:endParaRPr lang="en-US" sz="1200" dirty="0"/>
          </a:p>
        </p:txBody>
      </p:sp>
      <p:sp>
        <p:nvSpPr>
          <p:cNvPr id="16" name="Shape 14"/>
          <p:cNvSpPr/>
          <p:nvPr/>
        </p:nvSpPr>
        <p:spPr>
          <a:xfrm>
            <a:off x="6200775" y="1857310"/>
            <a:ext cx="2482850" cy="2988866"/>
          </a:xfrm>
          <a:prstGeom prst="roundRect">
            <a:avLst>
              <a:gd name="adj" fmla="val 3964"/>
            </a:avLst>
          </a:prstGeom>
          <a:solidFill>
            <a:srgbClr val="FBFAF6"/>
          </a:solidFill>
          <a:ln w="6350">
            <a:solidFill>
              <a:srgbClr val="DDD7CA"/>
            </a:solidFill>
            <a:prstDash val="solid"/>
          </a:ln>
        </p:spPr>
      </p:sp>
      <p:sp>
        <p:nvSpPr>
          <p:cNvPr id="17" name="Text 15"/>
          <p:cNvSpPr/>
          <p:nvPr/>
        </p:nvSpPr>
        <p:spPr>
          <a:xfrm>
            <a:off x="6405033" y="2061567"/>
            <a:ext cx="213656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2431F"/>
                </a:solidFill>
                <a:latin typeface="Space Grotesk" pitchFamily="34" charset="0"/>
                <a:ea typeface="Space Grotesk" pitchFamily="34" charset="-122"/>
                <a:cs typeface="Space Grotesk" pitchFamily="34" charset="-120"/>
              </a:rPr>
              <a:t>03</a:t>
            </a:r>
            <a:endParaRPr lang="en-US" sz="3200" dirty="0"/>
          </a:p>
        </p:txBody>
      </p:sp>
      <p:sp>
        <p:nvSpPr>
          <p:cNvPr id="18" name="Text 16"/>
          <p:cNvSpPr/>
          <p:nvPr/>
        </p:nvSpPr>
        <p:spPr>
          <a:xfrm>
            <a:off x="6405033" y="2569567"/>
            <a:ext cx="213656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Sista varan i lager</a:t>
            </a:r>
            <a:endParaRPr lang="en-US" sz="1600" dirty="0"/>
          </a:p>
        </p:txBody>
      </p:sp>
      <p:sp>
        <p:nvSpPr>
          <p:cNvPr id="19" name="Text 17"/>
          <p:cNvSpPr/>
          <p:nvPr/>
        </p:nvSpPr>
        <p:spPr>
          <a:xfrm>
            <a:off x="6405033" y="2914982"/>
            <a:ext cx="2136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3 system ingår</a:t>
            </a:r>
            <a:endParaRPr lang="en-US" sz="1200" dirty="0"/>
          </a:p>
        </p:txBody>
      </p:sp>
      <p:sp>
        <p:nvSpPr>
          <p:cNvPr id="20" name="Text 18"/>
          <p:cNvSpPr/>
          <p:nvPr/>
        </p:nvSpPr>
        <p:spPr>
          <a:xfrm>
            <a:off x="6405033" y="3229902"/>
            <a:ext cx="21365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Om det fallerar:</a:t>
            </a:r>
            <a:endParaRPr lang="en-US" sz="1200" dirty="0"/>
          </a:p>
        </p:txBody>
      </p:sp>
      <p:sp>
        <p:nvSpPr>
          <p:cNvPr id="21" name="Text 19"/>
          <p:cNvSpPr/>
          <p:nvPr/>
        </p:nvSpPr>
        <p:spPr>
          <a:xfrm>
            <a:off x="6405033" y="3544822"/>
            <a:ext cx="213656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Vi säljer varor som inte finns – restorder och hög belastning på kundservice.</a:t>
            </a:r>
            <a:endParaRPr lang="en-US" sz="1200" dirty="0"/>
          </a:p>
        </p:txBody>
      </p:sp>
      <p:sp>
        <p:nvSpPr>
          <p:cNvPr id="22" name="Shape 20"/>
          <p:cNvSpPr/>
          <p:nvPr/>
        </p:nvSpPr>
        <p:spPr>
          <a:xfrm>
            <a:off x="8893175" y="1857310"/>
            <a:ext cx="2482850" cy="2988866"/>
          </a:xfrm>
          <a:prstGeom prst="roundRect">
            <a:avLst>
              <a:gd name="adj" fmla="val 3964"/>
            </a:avLst>
          </a:prstGeom>
          <a:solidFill>
            <a:srgbClr val="FBFAF6"/>
          </a:solidFill>
          <a:ln w="6350">
            <a:solidFill>
              <a:srgbClr val="DDD7CA"/>
            </a:solidFill>
            <a:prstDash val="solid"/>
          </a:ln>
        </p:spPr>
      </p:sp>
      <p:sp>
        <p:nvSpPr>
          <p:cNvPr id="23" name="Text 21"/>
          <p:cNvSpPr/>
          <p:nvPr/>
        </p:nvSpPr>
        <p:spPr>
          <a:xfrm>
            <a:off x="9097434" y="2061567"/>
            <a:ext cx="213656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2431F"/>
                </a:solidFill>
                <a:latin typeface="Space Grotesk" pitchFamily="34" charset="0"/>
                <a:ea typeface="Space Grotesk" pitchFamily="34" charset="-122"/>
                <a:cs typeface="Space Grotesk" pitchFamily="34" charset="-120"/>
              </a:rPr>
              <a:t>04</a:t>
            </a:r>
            <a:endParaRPr lang="en-US" sz="3200" dirty="0"/>
          </a:p>
        </p:txBody>
      </p:sp>
      <p:sp>
        <p:nvSpPr>
          <p:cNvPr id="24" name="Text 22"/>
          <p:cNvSpPr/>
          <p:nvPr/>
        </p:nvSpPr>
        <p:spPr>
          <a:xfrm>
            <a:off x="9097434" y="2569567"/>
            <a:ext cx="2136563"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Inloggning och kontolåsning</a:t>
            </a:r>
            <a:endParaRPr lang="en-US" sz="1600" dirty="0"/>
          </a:p>
        </p:txBody>
      </p:sp>
      <p:sp>
        <p:nvSpPr>
          <p:cNvPr id="25" name="Text 23"/>
          <p:cNvSpPr/>
          <p:nvPr/>
        </p:nvSpPr>
        <p:spPr>
          <a:xfrm>
            <a:off x="9097434" y="3158796"/>
            <a:ext cx="2136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4 system ingår</a:t>
            </a:r>
            <a:endParaRPr lang="en-US" sz="1200" dirty="0"/>
          </a:p>
        </p:txBody>
      </p:sp>
      <p:sp>
        <p:nvSpPr>
          <p:cNvPr id="26" name="Text 24"/>
          <p:cNvSpPr/>
          <p:nvPr/>
        </p:nvSpPr>
        <p:spPr>
          <a:xfrm>
            <a:off x="9097434" y="3473717"/>
            <a:ext cx="21365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Om det fallerar:</a:t>
            </a:r>
            <a:endParaRPr lang="en-US" sz="1200" dirty="0"/>
          </a:p>
        </p:txBody>
      </p:sp>
      <p:sp>
        <p:nvSpPr>
          <p:cNvPr id="27" name="Text 25"/>
          <p:cNvSpPr/>
          <p:nvPr/>
        </p:nvSpPr>
        <p:spPr>
          <a:xfrm>
            <a:off x="9097434" y="3788637"/>
            <a:ext cx="21365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Kunder utelåsta, lösenord kan gissas, fler supportärenden.</a:t>
            </a:r>
            <a:endParaRPr lang="en-US" sz="1200" dirty="0"/>
          </a:p>
        </p:txBody>
      </p:sp>
      <p:sp>
        <p:nvSpPr>
          <p:cNvPr id="28" name="Text 26"/>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29" name="Text 27"/>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FLÖDE 1 · STANDARDKÖPET</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Ett köp passerar sex system</a:t>
            </a:r>
            <a:endParaRPr lang="en-US" sz="3200" dirty="0"/>
          </a:p>
        </p:txBody>
      </p:sp>
      <p:sp>
        <p:nvSpPr>
          <p:cNvPr id="4" name="Text 2"/>
          <p:cNvSpPr/>
          <p:nvPr/>
        </p:nvSpPr>
        <p:spPr>
          <a:xfrm>
            <a:off x="812800" y="180333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0"/>
                </a:solidFill>
                <a:latin typeface="IBM Plex Sans" pitchFamily="34" charset="0"/>
                <a:ea typeface="IBM Plex Sans" pitchFamily="34" charset="-122"/>
                <a:cs typeface="IBM Plex Sans" pitchFamily="34" charset="-120"/>
              </a:rPr>
              <a:t>KUNDEN HANDLAR · Webb / Mobilapp</a:t>
            </a:r>
            <a:endParaRPr lang="en-US" sz="1200" dirty="0"/>
          </a:p>
        </p:txBody>
      </p:sp>
      <p:sp>
        <p:nvSpPr>
          <p:cNvPr id="5" name="Shape 3"/>
          <p:cNvSpPr/>
          <p:nvPr/>
        </p:nvSpPr>
        <p:spPr>
          <a:xfrm>
            <a:off x="815975" y="2096030"/>
            <a:ext cx="2330450" cy="756444"/>
          </a:xfrm>
          <a:prstGeom prst="roundRect">
            <a:avLst>
              <a:gd name="adj" fmla="val 9654"/>
            </a:avLst>
          </a:prstGeom>
          <a:solidFill>
            <a:srgbClr val="FBFAF6"/>
          </a:solidFill>
          <a:ln w="6350">
            <a:solidFill>
              <a:srgbClr val="DDD7CA"/>
            </a:solidFill>
            <a:prstDash val="solid"/>
          </a:ln>
        </p:spPr>
      </p:sp>
      <p:sp>
        <p:nvSpPr>
          <p:cNvPr id="6" name="Text 4"/>
          <p:cNvSpPr/>
          <p:nvPr/>
        </p:nvSpPr>
        <p:spPr>
          <a:xfrm>
            <a:off x="969433" y="2224088"/>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Sök / filtrera</a:t>
            </a:r>
            <a:endParaRPr lang="en-US" sz="1400" dirty="0"/>
          </a:p>
        </p:txBody>
      </p:sp>
      <p:sp>
        <p:nvSpPr>
          <p:cNvPr id="7" name="Text 5"/>
          <p:cNvSpPr/>
          <p:nvPr/>
        </p:nvSpPr>
        <p:spPr>
          <a:xfrm>
            <a:off x="969433" y="2511096"/>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Produkt</a:t>
            </a:r>
            <a:endParaRPr lang="en-US" sz="1200" dirty="0"/>
          </a:p>
        </p:txBody>
      </p:sp>
      <p:sp>
        <p:nvSpPr>
          <p:cNvPr id="8" name="Text 6"/>
          <p:cNvSpPr/>
          <p:nvPr/>
        </p:nvSpPr>
        <p:spPr>
          <a:xfrm>
            <a:off x="3251200" y="2332038"/>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2431F"/>
                </a:solidFill>
                <a:latin typeface="IBM Plex Sans" pitchFamily="34" charset="0"/>
                <a:ea typeface="IBM Plex Sans" pitchFamily="34" charset="-122"/>
                <a:cs typeface="IBM Plex Sans" pitchFamily="34" charset="-120"/>
              </a:rPr>
              <a:t>→</a:t>
            </a:r>
            <a:endParaRPr lang="en-US" sz="1600" dirty="0"/>
          </a:p>
        </p:txBody>
      </p:sp>
      <p:sp>
        <p:nvSpPr>
          <p:cNvPr id="9" name="Shape 7"/>
          <p:cNvSpPr/>
          <p:nvPr/>
        </p:nvSpPr>
        <p:spPr>
          <a:xfrm>
            <a:off x="3559175" y="2096030"/>
            <a:ext cx="2330450" cy="756444"/>
          </a:xfrm>
          <a:prstGeom prst="roundRect">
            <a:avLst>
              <a:gd name="adj" fmla="val 9654"/>
            </a:avLst>
          </a:prstGeom>
          <a:solidFill>
            <a:srgbClr val="FBFAF6"/>
          </a:solidFill>
          <a:ln w="6350">
            <a:solidFill>
              <a:srgbClr val="DDD7CA"/>
            </a:solidFill>
            <a:prstDash val="solid"/>
          </a:ln>
        </p:spPr>
      </p:sp>
      <p:sp>
        <p:nvSpPr>
          <p:cNvPr id="10" name="Text 8"/>
          <p:cNvSpPr/>
          <p:nvPr/>
        </p:nvSpPr>
        <p:spPr>
          <a:xfrm>
            <a:off x="3712633" y="2224088"/>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Kundvagn</a:t>
            </a:r>
            <a:endParaRPr lang="en-US" sz="1400" dirty="0"/>
          </a:p>
        </p:txBody>
      </p:sp>
      <p:sp>
        <p:nvSpPr>
          <p:cNvPr id="11" name="Text 9"/>
          <p:cNvSpPr/>
          <p:nvPr/>
        </p:nvSpPr>
        <p:spPr>
          <a:xfrm>
            <a:off x="3712633" y="2511096"/>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Lägg till vara</a:t>
            </a:r>
            <a:endParaRPr lang="en-US" sz="1200" dirty="0"/>
          </a:p>
        </p:txBody>
      </p:sp>
      <p:sp>
        <p:nvSpPr>
          <p:cNvPr id="12" name="Text 10"/>
          <p:cNvSpPr/>
          <p:nvPr/>
        </p:nvSpPr>
        <p:spPr>
          <a:xfrm>
            <a:off x="5994400" y="2332038"/>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2431F"/>
                </a:solidFill>
                <a:latin typeface="IBM Plex Sans" pitchFamily="34" charset="0"/>
                <a:ea typeface="IBM Plex Sans" pitchFamily="34" charset="-122"/>
                <a:cs typeface="IBM Plex Sans" pitchFamily="34" charset="-120"/>
              </a:rPr>
              <a:t>→</a:t>
            </a:r>
            <a:endParaRPr lang="en-US" sz="1600" dirty="0"/>
          </a:p>
        </p:txBody>
      </p:sp>
      <p:sp>
        <p:nvSpPr>
          <p:cNvPr id="13" name="Shape 11"/>
          <p:cNvSpPr/>
          <p:nvPr/>
        </p:nvSpPr>
        <p:spPr>
          <a:xfrm>
            <a:off x="6302375" y="2096030"/>
            <a:ext cx="2330450" cy="756444"/>
          </a:xfrm>
          <a:prstGeom prst="roundRect">
            <a:avLst>
              <a:gd name="adj" fmla="val 9654"/>
            </a:avLst>
          </a:prstGeom>
          <a:solidFill>
            <a:srgbClr val="FBFAF6"/>
          </a:solidFill>
          <a:ln w="6350">
            <a:solidFill>
              <a:srgbClr val="DDD7CA"/>
            </a:solidFill>
            <a:prstDash val="solid"/>
          </a:ln>
        </p:spPr>
      </p:sp>
      <p:sp>
        <p:nvSpPr>
          <p:cNvPr id="14" name="Text 12"/>
          <p:cNvSpPr/>
          <p:nvPr/>
        </p:nvSpPr>
        <p:spPr>
          <a:xfrm>
            <a:off x="6455833" y="2224088"/>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Rabattkod</a:t>
            </a:r>
            <a:endParaRPr lang="en-US" sz="1400" dirty="0"/>
          </a:p>
        </p:txBody>
      </p:sp>
      <p:sp>
        <p:nvSpPr>
          <p:cNvPr id="15" name="Text 13"/>
          <p:cNvSpPr/>
          <p:nvPr/>
        </p:nvSpPr>
        <p:spPr>
          <a:xfrm>
            <a:off x="6455833" y="2511096"/>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Appliceras</a:t>
            </a:r>
            <a:endParaRPr lang="en-US" sz="1200" dirty="0"/>
          </a:p>
        </p:txBody>
      </p:sp>
      <p:sp>
        <p:nvSpPr>
          <p:cNvPr id="16" name="Text 14"/>
          <p:cNvSpPr/>
          <p:nvPr/>
        </p:nvSpPr>
        <p:spPr>
          <a:xfrm>
            <a:off x="8737600" y="2332038"/>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2431F"/>
                </a:solidFill>
                <a:latin typeface="IBM Plex Sans" pitchFamily="34" charset="0"/>
                <a:ea typeface="IBM Plex Sans" pitchFamily="34" charset="-122"/>
                <a:cs typeface="IBM Plex Sans" pitchFamily="34" charset="-120"/>
              </a:rPr>
              <a:t>→</a:t>
            </a:r>
            <a:endParaRPr lang="en-US" sz="1600" dirty="0"/>
          </a:p>
        </p:txBody>
      </p:sp>
      <p:sp>
        <p:nvSpPr>
          <p:cNvPr id="17" name="Shape 15"/>
          <p:cNvSpPr/>
          <p:nvPr/>
        </p:nvSpPr>
        <p:spPr>
          <a:xfrm>
            <a:off x="9045575" y="2096030"/>
            <a:ext cx="2330450" cy="756444"/>
          </a:xfrm>
          <a:prstGeom prst="roundRect">
            <a:avLst>
              <a:gd name="adj" fmla="val 9654"/>
            </a:avLst>
          </a:prstGeom>
          <a:solidFill>
            <a:srgbClr val="FBFAF6"/>
          </a:solidFill>
          <a:ln w="6350">
            <a:solidFill>
              <a:srgbClr val="DDD7CA"/>
            </a:solidFill>
            <a:prstDash val="solid"/>
          </a:ln>
        </p:spPr>
      </p:sp>
      <p:sp>
        <p:nvSpPr>
          <p:cNvPr id="18" name="Text 16"/>
          <p:cNvSpPr/>
          <p:nvPr/>
        </p:nvSpPr>
        <p:spPr>
          <a:xfrm>
            <a:off x="9199034" y="2224088"/>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Leveransval</a:t>
            </a:r>
            <a:endParaRPr lang="en-US" sz="1400" dirty="0"/>
          </a:p>
        </p:txBody>
      </p:sp>
      <p:sp>
        <p:nvSpPr>
          <p:cNvPr id="19" name="Text 17"/>
          <p:cNvSpPr/>
          <p:nvPr/>
        </p:nvSpPr>
        <p:spPr>
          <a:xfrm>
            <a:off x="9199034" y="2511096"/>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Delivery Provider</a:t>
            </a:r>
            <a:endParaRPr lang="en-US" sz="1200" dirty="0"/>
          </a:p>
        </p:txBody>
      </p:sp>
      <p:sp>
        <p:nvSpPr>
          <p:cNvPr id="20" name="Text 18"/>
          <p:cNvSpPr/>
          <p:nvPr/>
        </p:nvSpPr>
        <p:spPr>
          <a:xfrm>
            <a:off x="812800" y="31096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0"/>
                </a:solidFill>
                <a:latin typeface="IBM Plex Sans" pitchFamily="34" charset="0"/>
                <a:ea typeface="IBM Plex Sans" pitchFamily="34" charset="-122"/>
                <a:cs typeface="IBM Plex Sans" pitchFamily="34" charset="-120"/>
              </a:rPr>
              <a:t>SYSTEMEN TAR ÖVER · Backend / Order Service</a:t>
            </a:r>
            <a:endParaRPr lang="en-US" sz="1200" dirty="0"/>
          </a:p>
        </p:txBody>
      </p:sp>
      <p:sp>
        <p:nvSpPr>
          <p:cNvPr id="21" name="Shape 19"/>
          <p:cNvSpPr/>
          <p:nvPr/>
        </p:nvSpPr>
        <p:spPr>
          <a:xfrm>
            <a:off x="815975" y="3402344"/>
            <a:ext cx="2330450" cy="756444"/>
          </a:xfrm>
          <a:prstGeom prst="roundRect">
            <a:avLst>
              <a:gd name="adj" fmla="val 9654"/>
            </a:avLst>
          </a:prstGeom>
          <a:solidFill>
            <a:srgbClr val="FBFAF6"/>
          </a:solidFill>
          <a:ln w="6350">
            <a:solidFill>
              <a:srgbClr val="DDD7CA"/>
            </a:solidFill>
            <a:prstDash val="solid"/>
          </a:ln>
        </p:spPr>
      </p:sp>
      <p:sp>
        <p:nvSpPr>
          <p:cNvPr id="22" name="Text 20"/>
          <p:cNvSpPr/>
          <p:nvPr/>
        </p:nvSpPr>
        <p:spPr>
          <a:xfrm>
            <a:off x="969433" y="3530402"/>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Betalning</a:t>
            </a:r>
            <a:endParaRPr lang="en-US" sz="1400" dirty="0"/>
          </a:p>
        </p:txBody>
      </p:sp>
      <p:sp>
        <p:nvSpPr>
          <p:cNvPr id="23" name="Text 21"/>
          <p:cNvSpPr/>
          <p:nvPr/>
        </p:nvSpPr>
        <p:spPr>
          <a:xfrm>
            <a:off x="969433" y="3817410"/>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Swish / kort</a:t>
            </a:r>
            <a:endParaRPr lang="en-US" sz="1200" dirty="0"/>
          </a:p>
        </p:txBody>
      </p:sp>
      <p:sp>
        <p:nvSpPr>
          <p:cNvPr id="24" name="Text 22"/>
          <p:cNvSpPr/>
          <p:nvPr/>
        </p:nvSpPr>
        <p:spPr>
          <a:xfrm>
            <a:off x="3251200" y="3638352"/>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2431F"/>
                </a:solidFill>
                <a:latin typeface="IBM Plex Sans" pitchFamily="34" charset="0"/>
                <a:ea typeface="IBM Plex Sans" pitchFamily="34" charset="-122"/>
                <a:cs typeface="IBM Plex Sans" pitchFamily="34" charset="-120"/>
              </a:rPr>
              <a:t>→</a:t>
            </a:r>
            <a:endParaRPr lang="en-US" sz="1600" dirty="0"/>
          </a:p>
        </p:txBody>
      </p:sp>
      <p:sp>
        <p:nvSpPr>
          <p:cNvPr id="25" name="Shape 23"/>
          <p:cNvSpPr/>
          <p:nvPr/>
        </p:nvSpPr>
        <p:spPr>
          <a:xfrm>
            <a:off x="3559175" y="3402344"/>
            <a:ext cx="2330450" cy="756444"/>
          </a:xfrm>
          <a:prstGeom prst="roundRect">
            <a:avLst>
              <a:gd name="adj" fmla="val 9654"/>
            </a:avLst>
          </a:prstGeom>
          <a:solidFill>
            <a:srgbClr val="FBFAF6"/>
          </a:solidFill>
          <a:ln w="6350">
            <a:solidFill>
              <a:srgbClr val="DDD7CA"/>
            </a:solidFill>
            <a:prstDash val="solid"/>
          </a:ln>
        </p:spPr>
      </p:sp>
      <p:sp>
        <p:nvSpPr>
          <p:cNvPr id="26" name="Text 24"/>
          <p:cNvSpPr/>
          <p:nvPr/>
        </p:nvSpPr>
        <p:spPr>
          <a:xfrm>
            <a:off x="3712633" y="3530402"/>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Order skapas</a:t>
            </a:r>
            <a:endParaRPr lang="en-US" sz="1400" dirty="0"/>
          </a:p>
        </p:txBody>
      </p:sp>
      <p:sp>
        <p:nvSpPr>
          <p:cNvPr id="27" name="Text 25"/>
          <p:cNvSpPr/>
          <p:nvPr/>
        </p:nvSpPr>
        <p:spPr>
          <a:xfrm>
            <a:off x="3712633" y="3817410"/>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Order Service</a:t>
            </a:r>
            <a:endParaRPr lang="en-US" sz="1200" dirty="0"/>
          </a:p>
        </p:txBody>
      </p:sp>
      <p:sp>
        <p:nvSpPr>
          <p:cNvPr id="28" name="Text 26"/>
          <p:cNvSpPr/>
          <p:nvPr/>
        </p:nvSpPr>
        <p:spPr>
          <a:xfrm>
            <a:off x="5994400" y="3638352"/>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2431F"/>
                </a:solidFill>
                <a:latin typeface="IBM Plex Sans" pitchFamily="34" charset="0"/>
                <a:ea typeface="IBM Plex Sans" pitchFamily="34" charset="-122"/>
                <a:cs typeface="IBM Plex Sans" pitchFamily="34" charset="-120"/>
              </a:rPr>
              <a:t>→</a:t>
            </a:r>
            <a:endParaRPr lang="en-US" sz="1600" dirty="0"/>
          </a:p>
        </p:txBody>
      </p:sp>
      <p:sp>
        <p:nvSpPr>
          <p:cNvPr id="29" name="Shape 27"/>
          <p:cNvSpPr/>
          <p:nvPr/>
        </p:nvSpPr>
        <p:spPr>
          <a:xfrm>
            <a:off x="6302375" y="3402344"/>
            <a:ext cx="2330450" cy="756444"/>
          </a:xfrm>
          <a:prstGeom prst="roundRect">
            <a:avLst>
              <a:gd name="adj" fmla="val 9654"/>
            </a:avLst>
          </a:prstGeom>
          <a:solidFill>
            <a:srgbClr val="FBFAF6"/>
          </a:solidFill>
          <a:ln w="6350">
            <a:solidFill>
              <a:srgbClr val="DDD7CA"/>
            </a:solidFill>
            <a:prstDash val="solid"/>
          </a:ln>
        </p:spPr>
      </p:sp>
      <p:sp>
        <p:nvSpPr>
          <p:cNvPr id="30" name="Text 28"/>
          <p:cNvSpPr/>
          <p:nvPr/>
        </p:nvSpPr>
        <p:spPr>
          <a:xfrm>
            <a:off x="6455833" y="3530402"/>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Saldo uppdateras</a:t>
            </a:r>
            <a:endParaRPr lang="en-US" sz="1400" dirty="0"/>
          </a:p>
        </p:txBody>
      </p:sp>
      <p:sp>
        <p:nvSpPr>
          <p:cNvPr id="31" name="Text 29"/>
          <p:cNvSpPr/>
          <p:nvPr/>
        </p:nvSpPr>
        <p:spPr>
          <a:xfrm>
            <a:off x="6455833" y="3817410"/>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Lagersystem</a:t>
            </a:r>
            <a:endParaRPr lang="en-US" sz="1200" dirty="0"/>
          </a:p>
        </p:txBody>
      </p:sp>
      <p:sp>
        <p:nvSpPr>
          <p:cNvPr id="32" name="Text 30"/>
          <p:cNvSpPr/>
          <p:nvPr/>
        </p:nvSpPr>
        <p:spPr>
          <a:xfrm>
            <a:off x="8737600" y="3638352"/>
            <a:ext cx="254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2431F"/>
                </a:solidFill>
                <a:latin typeface="IBM Plex Sans" pitchFamily="34" charset="0"/>
                <a:ea typeface="IBM Plex Sans" pitchFamily="34" charset="-122"/>
                <a:cs typeface="IBM Plex Sans" pitchFamily="34" charset="-120"/>
              </a:rPr>
              <a:t>→</a:t>
            </a:r>
            <a:endParaRPr lang="en-US" sz="1600" dirty="0"/>
          </a:p>
        </p:txBody>
      </p:sp>
      <p:sp>
        <p:nvSpPr>
          <p:cNvPr id="33" name="Shape 31"/>
          <p:cNvSpPr/>
          <p:nvPr/>
        </p:nvSpPr>
        <p:spPr>
          <a:xfrm>
            <a:off x="9045575" y="3402344"/>
            <a:ext cx="2330450" cy="756444"/>
          </a:xfrm>
          <a:prstGeom prst="roundRect">
            <a:avLst>
              <a:gd name="adj" fmla="val 9654"/>
            </a:avLst>
          </a:prstGeom>
          <a:solidFill>
            <a:srgbClr val="FBFAF6"/>
          </a:solidFill>
          <a:ln w="6350">
            <a:solidFill>
              <a:srgbClr val="DDD7CA"/>
            </a:solidFill>
            <a:prstDash val="solid"/>
          </a:ln>
        </p:spPr>
      </p:sp>
      <p:sp>
        <p:nvSpPr>
          <p:cNvPr id="34" name="Text 32"/>
          <p:cNvSpPr/>
          <p:nvPr/>
        </p:nvSpPr>
        <p:spPr>
          <a:xfrm>
            <a:off x="9199034" y="3530402"/>
            <a:ext cx="2084239"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Bekräftelse</a:t>
            </a:r>
            <a:endParaRPr lang="en-US" sz="1400" dirty="0"/>
          </a:p>
        </p:txBody>
      </p:sp>
      <p:sp>
        <p:nvSpPr>
          <p:cNvPr id="35" name="Text 33"/>
          <p:cNvSpPr/>
          <p:nvPr/>
        </p:nvSpPr>
        <p:spPr>
          <a:xfrm>
            <a:off x="9199034" y="3817410"/>
            <a:ext cx="2084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E-post / SMS</a:t>
            </a:r>
            <a:endParaRPr lang="en-US" sz="1200" dirty="0"/>
          </a:p>
        </p:txBody>
      </p:sp>
      <p:sp>
        <p:nvSpPr>
          <p:cNvPr id="36" name="Shape 34"/>
          <p:cNvSpPr/>
          <p:nvPr/>
        </p:nvSpPr>
        <p:spPr>
          <a:xfrm>
            <a:off x="812800" y="4428663"/>
            <a:ext cx="5181600" cy="0"/>
          </a:xfrm>
          <a:prstGeom prst="line">
            <a:avLst/>
          </a:prstGeom>
          <a:noFill/>
          <a:ln w="25400">
            <a:solidFill>
              <a:srgbClr val="14232B"/>
            </a:solidFill>
            <a:prstDash val="solid"/>
          </a:ln>
        </p:spPr>
      </p:sp>
      <p:sp>
        <p:nvSpPr>
          <p:cNvPr id="37" name="Text 35"/>
          <p:cNvSpPr/>
          <p:nvPr/>
        </p:nvSpPr>
        <p:spPr>
          <a:xfrm>
            <a:off x="812800" y="4542963"/>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Verksamhetsmål</a:t>
            </a:r>
            <a:endParaRPr lang="en-US" sz="1200" dirty="0"/>
          </a:p>
        </p:txBody>
      </p:sp>
      <p:sp>
        <p:nvSpPr>
          <p:cNvPr id="38" name="Text 36"/>
          <p:cNvSpPr/>
          <p:nvPr/>
        </p:nvSpPr>
        <p:spPr>
          <a:xfrm>
            <a:off x="812800" y="4807083"/>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Enklare att handla, fler betalalternativ, automatiserat lager.</a:t>
            </a:r>
            <a:endParaRPr lang="en-US" sz="1200" dirty="0"/>
          </a:p>
        </p:txBody>
      </p:sp>
      <p:sp>
        <p:nvSpPr>
          <p:cNvPr id="39" name="Shape 37"/>
          <p:cNvSpPr/>
          <p:nvPr/>
        </p:nvSpPr>
        <p:spPr>
          <a:xfrm>
            <a:off x="6197600" y="4428663"/>
            <a:ext cx="5181600" cy="0"/>
          </a:xfrm>
          <a:prstGeom prst="line">
            <a:avLst/>
          </a:prstGeom>
          <a:noFill/>
          <a:ln w="25400">
            <a:solidFill>
              <a:srgbClr val="B2431F"/>
            </a:solidFill>
            <a:prstDash val="solid"/>
          </a:ln>
        </p:spPr>
      </p:sp>
      <p:sp>
        <p:nvSpPr>
          <p:cNvPr id="40" name="Text 38"/>
          <p:cNvSpPr/>
          <p:nvPr/>
        </p:nvSpPr>
        <p:spPr>
          <a:xfrm>
            <a:off x="6197600" y="4542963"/>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Om det fallerar · Kritikalitet Hög</a:t>
            </a:r>
            <a:endParaRPr lang="en-US" sz="1200" dirty="0"/>
          </a:p>
        </p:txBody>
      </p:sp>
      <p:sp>
        <p:nvSpPr>
          <p:cNvPr id="41" name="Text 39"/>
          <p:cNvSpPr/>
          <p:nvPr/>
        </p:nvSpPr>
        <p:spPr>
          <a:xfrm>
            <a:off x="6197600" y="4807083"/>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Totalt stopp i försäljningen.</a:t>
            </a:r>
            <a:endParaRPr lang="en-US" sz="1200" dirty="0"/>
          </a:p>
        </p:txBody>
      </p:sp>
      <p:sp>
        <p:nvSpPr>
          <p:cNvPr id="42" name="Text 40"/>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43" name="Text 41"/>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FLÖDE 2–4</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Avbeställning, lagergräns och inloggning</a:t>
            </a:r>
            <a:endParaRPr lang="en-US" sz="3200" dirty="0"/>
          </a:p>
        </p:txBody>
      </p:sp>
      <p:sp>
        <p:nvSpPr>
          <p:cNvPr id="4" name="Shape 2"/>
          <p:cNvSpPr/>
          <p:nvPr/>
        </p:nvSpPr>
        <p:spPr>
          <a:xfrm>
            <a:off x="815975" y="1857310"/>
            <a:ext cx="3380317" cy="2795786"/>
          </a:xfrm>
          <a:prstGeom prst="roundRect">
            <a:avLst>
              <a:gd name="adj" fmla="val 3520"/>
            </a:avLst>
          </a:prstGeom>
          <a:solidFill>
            <a:srgbClr val="FBFAF6"/>
          </a:solidFill>
          <a:ln w="6350">
            <a:solidFill>
              <a:srgbClr val="DDD7CA"/>
            </a:solidFill>
            <a:prstDash val="solid"/>
          </a:ln>
        </p:spPr>
      </p:sp>
      <p:sp>
        <p:nvSpPr>
          <p:cNvPr id="5" name="Text 3"/>
          <p:cNvSpPr/>
          <p:nvPr/>
        </p:nvSpPr>
        <p:spPr>
          <a:xfrm>
            <a:off x="1020233" y="2061567"/>
            <a:ext cx="3060954"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02 · Avbeställning före leverans</a:t>
            </a:r>
            <a:endParaRPr lang="en-US" sz="1600" dirty="0"/>
          </a:p>
        </p:txBody>
      </p:sp>
      <p:sp>
        <p:nvSpPr>
          <p:cNvPr id="6" name="Text 4"/>
          <p:cNvSpPr/>
          <p:nvPr/>
        </p:nvSpPr>
        <p:spPr>
          <a:xfrm>
            <a:off x="1020233" y="2650796"/>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Sekvens</a:t>
            </a:r>
            <a:endParaRPr lang="en-US" sz="1200" dirty="0"/>
          </a:p>
        </p:txBody>
      </p:sp>
      <p:sp>
        <p:nvSpPr>
          <p:cNvPr id="7" name="Text 5"/>
          <p:cNvSpPr/>
          <p:nvPr/>
        </p:nvSpPr>
        <p:spPr>
          <a:xfrm>
            <a:off x="1020233" y="2965717"/>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Hitta order → avbryt → återbetalning → återställ lagersaldo → bekräftelse till kund</a:t>
            </a:r>
            <a:endParaRPr lang="en-US" sz="1200" dirty="0"/>
          </a:p>
        </p:txBody>
      </p:sp>
      <p:sp>
        <p:nvSpPr>
          <p:cNvPr id="8" name="Text 6"/>
          <p:cNvSpPr/>
          <p:nvPr/>
        </p:nvSpPr>
        <p:spPr>
          <a:xfrm>
            <a:off x="1020233" y="3493957"/>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Om det fallerar</a:t>
            </a:r>
            <a:endParaRPr lang="en-US" sz="1200" dirty="0"/>
          </a:p>
        </p:txBody>
      </p:sp>
      <p:sp>
        <p:nvSpPr>
          <p:cNvPr id="9" name="Text 7"/>
          <p:cNvSpPr/>
          <p:nvPr/>
        </p:nvSpPr>
        <p:spPr>
          <a:xfrm>
            <a:off x="1020233" y="3808878"/>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Felaktiga leveranser, missnöjda kunder, manuellt arbete.</a:t>
            </a:r>
            <a:endParaRPr lang="en-US" sz="1200" dirty="0"/>
          </a:p>
        </p:txBody>
      </p:sp>
      <p:sp>
        <p:nvSpPr>
          <p:cNvPr id="10" name="Shape 8"/>
          <p:cNvSpPr/>
          <p:nvPr/>
        </p:nvSpPr>
        <p:spPr>
          <a:xfrm>
            <a:off x="4405842" y="1857310"/>
            <a:ext cx="3380317" cy="2795786"/>
          </a:xfrm>
          <a:prstGeom prst="roundRect">
            <a:avLst>
              <a:gd name="adj" fmla="val 3520"/>
            </a:avLst>
          </a:prstGeom>
          <a:solidFill>
            <a:srgbClr val="FBFAF6"/>
          </a:solidFill>
          <a:ln w="6350">
            <a:solidFill>
              <a:srgbClr val="DDD7CA"/>
            </a:solidFill>
            <a:prstDash val="solid"/>
          </a:ln>
        </p:spPr>
      </p:sp>
      <p:sp>
        <p:nvSpPr>
          <p:cNvPr id="11" name="Text 9"/>
          <p:cNvSpPr/>
          <p:nvPr/>
        </p:nvSpPr>
        <p:spPr>
          <a:xfrm>
            <a:off x="4610100" y="2061567"/>
            <a:ext cx="30609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03 · Sista varan i lager</a:t>
            </a:r>
            <a:endParaRPr lang="en-US" sz="1600" dirty="0"/>
          </a:p>
        </p:txBody>
      </p:sp>
      <p:sp>
        <p:nvSpPr>
          <p:cNvPr id="12" name="Text 10"/>
          <p:cNvSpPr/>
          <p:nvPr/>
        </p:nvSpPr>
        <p:spPr>
          <a:xfrm>
            <a:off x="4610100" y="2406982"/>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Sekvens</a:t>
            </a:r>
            <a:endParaRPr lang="en-US" sz="1200" dirty="0"/>
          </a:p>
        </p:txBody>
      </p:sp>
      <p:sp>
        <p:nvSpPr>
          <p:cNvPr id="13" name="Text 11"/>
          <p:cNvSpPr/>
          <p:nvPr/>
        </p:nvSpPr>
        <p:spPr>
          <a:xfrm>
            <a:off x="4610100" y="2721902"/>
            <a:ext cx="306095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Kund A och B vill ha sista varan samtidigt → saldo 0 → B nekas och erbjuds bevakning → varan visas som slut</a:t>
            </a:r>
            <a:endParaRPr lang="en-US" sz="1200" dirty="0"/>
          </a:p>
        </p:txBody>
      </p:sp>
      <p:sp>
        <p:nvSpPr>
          <p:cNvPr id="14" name="Text 12"/>
          <p:cNvSpPr/>
          <p:nvPr/>
        </p:nvSpPr>
        <p:spPr>
          <a:xfrm>
            <a:off x="4610100" y="3463463"/>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Om det fallerar</a:t>
            </a:r>
            <a:endParaRPr lang="en-US" sz="1200" dirty="0"/>
          </a:p>
        </p:txBody>
      </p:sp>
      <p:sp>
        <p:nvSpPr>
          <p:cNvPr id="15" name="Text 13"/>
          <p:cNvSpPr/>
          <p:nvPr/>
        </p:nvSpPr>
        <p:spPr>
          <a:xfrm>
            <a:off x="4610100" y="3778383"/>
            <a:ext cx="30609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Vi säljer varor som inte finns – restorder.</a:t>
            </a:r>
            <a:endParaRPr lang="en-US" sz="1200" dirty="0"/>
          </a:p>
        </p:txBody>
      </p:sp>
      <p:sp>
        <p:nvSpPr>
          <p:cNvPr id="16" name="Shape 14"/>
          <p:cNvSpPr/>
          <p:nvPr/>
        </p:nvSpPr>
        <p:spPr>
          <a:xfrm>
            <a:off x="7995709" y="1857310"/>
            <a:ext cx="3380317" cy="2795786"/>
          </a:xfrm>
          <a:prstGeom prst="roundRect">
            <a:avLst>
              <a:gd name="adj" fmla="val 3520"/>
            </a:avLst>
          </a:prstGeom>
          <a:solidFill>
            <a:srgbClr val="FBFAF6"/>
          </a:solidFill>
          <a:ln w="6350">
            <a:solidFill>
              <a:srgbClr val="DDD7CA"/>
            </a:solidFill>
            <a:prstDash val="solid"/>
          </a:ln>
        </p:spPr>
      </p:sp>
      <p:sp>
        <p:nvSpPr>
          <p:cNvPr id="17" name="Text 15"/>
          <p:cNvSpPr/>
          <p:nvPr/>
        </p:nvSpPr>
        <p:spPr>
          <a:xfrm>
            <a:off x="8199967" y="2061567"/>
            <a:ext cx="3060954"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04 · Inloggning och kontolåsning</a:t>
            </a:r>
            <a:endParaRPr lang="en-US" sz="1600" dirty="0"/>
          </a:p>
        </p:txBody>
      </p:sp>
      <p:sp>
        <p:nvSpPr>
          <p:cNvPr id="18" name="Text 16"/>
          <p:cNvSpPr/>
          <p:nvPr/>
        </p:nvSpPr>
        <p:spPr>
          <a:xfrm>
            <a:off x="8199967" y="2650796"/>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Sekvens</a:t>
            </a:r>
            <a:endParaRPr lang="en-US" sz="1200" dirty="0"/>
          </a:p>
        </p:txBody>
      </p:sp>
      <p:sp>
        <p:nvSpPr>
          <p:cNvPr id="19" name="Text 17"/>
          <p:cNvSpPr/>
          <p:nvPr/>
        </p:nvSpPr>
        <p:spPr>
          <a:xfrm>
            <a:off x="8199967" y="2965717"/>
            <a:ext cx="306095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Kund → webb/app → backend kontrollerar uppgifter → inloggning, eller låsning efter tre fel (K1)</a:t>
            </a:r>
            <a:endParaRPr lang="en-US" sz="1200" dirty="0"/>
          </a:p>
        </p:txBody>
      </p:sp>
      <p:sp>
        <p:nvSpPr>
          <p:cNvPr id="20" name="Text 18"/>
          <p:cNvSpPr/>
          <p:nvPr/>
        </p:nvSpPr>
        <p:spPr>
          <a:xfrm>
            <a:off x="8199967" y="3707278"/>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Om det fallerar</a:t>
            </a:r>
            <a:endParaRPr lang="en-US" sz="1200" dirty="0"/>
          </a:p>
        </p:txBody>
      </p:sp>
      <p:sp>
        <p:nvSpPr>
          <p:cNvPr id="21" name="Text 19"/>
          <p:cNvSpPr/>
          <p:nvPr/>
        </p:nvSpPr>
        <p:spPr>
          <a:xfrm>
            <a:off x="8199967" y="4022198"/>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Kunder utelåsta, lösenord kan gissas, fler ärenden.</a:t>
            </a:r>
            <a:endParaRPr lang="en-US" sz="1200" dirty="0"/>
          </a:p>
        </p:txBody>
      </p:sp>
      <p:sp>
        <p:nvSpPr>
          <p:cNvPr id="22" name="Text 20"/>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23" name="Text 21"/>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E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3 · INTEGRATIONER</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Fyra integrationer från Order Service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03335"/>
          <a:ext cx="10566400" cy="2232422"/>
        </p:xfrm>
        <a:graphic>
          <a:graphicData uri="http://schemas.openxmlformats.org/drawingml/2006/table">
            <a:tbl>
              <a:tblPr/>
              <a:tblGrid>
                <a:gridCol w="2406210"/>
                <a:gridCol w="3557006"/>
                <a:gridCol w="4603184"/>
              </a:tblGrid>
              <a:tr h="403820">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Till</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solidFill>
                      <a:srgbClr val="D7DEDD"/>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Information</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solidFill>
                      <a:srgbClr val="D7DEDD"/>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Vad kan gå fel?</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solidFill>
                      <a:srgbClr val="D7DEDD"/>
                    </a:solidFill>
                  </a:tcPr>
                </a:tc>
              </a:tr>
              <a:tr h="4038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Lagersystem (15 år)</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Reservera/återställa artiklar, lagerstatus</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Timeout, fel saldo, krasch vid hög belastning</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r>
              <a:tr h="617141">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Payment Provider</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Belopp, betalmetod, order-ID</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Avbrott mitt i köp: kunden betalar men ingen order skapas. Dubbeldebitering.</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r>
              <a:tr h="4038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Delivery Provider</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Adress, paketvikt, fraktalternativ</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API nere – kassan låser sig och köpet kan inte slutföras</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r>
              <a:tr h="4038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E-post / SMS</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Kunduppgifter, orderdetaljer, mall-ID</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Inga bekräftelser – kunder försöker köpa igen</a:t>
                      </a:r>
                      <a:endParaRPr lang="en-US" sz="1200" dirty="0">
                        <a:latin typeface="IBM Plex Sans" charset="0"/>
                        <a:ea typeface="IBM Plex Sans" charset="0"/>
                        <a:cs typeface="IBM Plex Sans" charset="0"/>
                      </a:endParaRPr>
                    </a:p>
                  </a:txBody>
                  <a:tcPr marL="101600" marR="101600" marT="88900" marB="88900" anchor="t">
                    <a:lnL w="12700" cap="flat" cmpd="sng" algn="ctr">
                      <a:solidFill>
                        <a:srgbClr val="B9C1C2"/>
                      </a:solidFill>
                      <a:prstDash val="solid"/>
                      <a:round/>
                      <a:headEnd type="none" w="med" len="med"/>
                      <a:tailEnd type="none" w="med" len="med"/>
                    </a:lnL>
                    <a:lnR w="12700" cap="flat" cmpd="sng" algn="ctr">
                      <a:solidFill>
                        <a:srgbClr val="B9C1C2"/>
                      </a:solidFill>
                      <a:prstDash val="solid"/>
                      <a:round/>
                      <a:headEnd type="none" w="med" len="med"/>
                      <a:tailEnd type="none" w="med" len="med"/>
                    </a:lnR>
                    <a:lnT w="12700" cap="flat" cmpd="sng" algn="ctr">
                      <a:solidFill>
                        <a:srgbClr val="B9C1C2"/>
                      </a:solidFill>
                      <a:prstDash val="solid"/>
                      <a:round/>
                      <a:headEnd type="none" w="med" len="med"/>
                      <a:tailEnd type="none" w="med" len="med"/>
                    </a:lnT>
                    <a:lnB w="12700" cap="flat" cmpd="sng" algn="ctr">
                      <a:solidFill>
                        <a:srgbClr val="B9C1C2"/>
                      </a:solidFill>
                      <a:prstDash val="solid"/>
                      <a:round/>
                      <a:headEnd type="none" w="med" len="med"/>
                      <a:tailEnd type="none" w="med" len="med"/>
                    </a:lnB>
                  </a:tcPr>
                </a:tc>
              </a:tr>
            </a:tbl>
          </a:graphicData>
        </a:graphic>
      </p:graphicFrame>
      <p:sp>
        <p:nvSpPr>
          <p:cNvPr id="5" name="Text 2"/>
          <p:cNvSpPr/>
          <p:nvPr/>
        </p:nvSpPr>
        <p:spPr>
          <a:xfrm>
            <a:off x="812800" y="430246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Vi testar varje integration mot:</a:t>
            </a:r>
            <a:r>
              <a:rPr lang="en-US" sz="1400" dirty="0">
                <a:solidFill>
                  <a:srgbClr val="14232B"/>
                </a:solidFill>
                <a:latin typeface="IBM Plex Sans" pitchFamily="34" charset="0"/>
                <a:ea typeface="IBM Plex Sans" pitchFamily="34" charset="-122"/>
                <a:cs typeface="IBM Plex Sans" pitchFamily="34" charset="-120"/>
              </a:rPr>
              <a:t> mottagaren är nere · timeout · fel data skickas · samma meddelande skickas två gånger</a:t>
            </a:r>
            <a:endParaRPr lang="en-US" sz="1400" dirty="0"/>
          </a:p>
        </p:txBody>
      </p:sp>
      <p:sp>
        <p:nvSpPr>
          <p:cNvPr id="6" name="Text 3"/>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7" name="Text 4"/>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4 · STAKEHOLDERS</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Tre nyckelgrupper – och vad vi utbyter</a:t>
            </a:r>
            <a:endParaRPr lang="en-US" sz="3200" dirty="0"/>
          </a:p>
        </p:txBody>
      </p:sp>
      <p:sp>
        <p:nvSpPr>
          <p:cNvPr id="4" name="Shape 2"/>
          <p:cNvSpPr/>
          <p:nvPr/>
        </p:nvSpPr>
        <p:spPr>
          <a:xfrm>
            <a:off x="815975" y="1857313"/>
            <a:ext cx="3380317" cy="2338652"/>
          </a:xfrm>
          <a:prstGeom prst="roundRect">
            <a:avLst>
              <a:gd name="adj" fmla="val 4209"/>
            </a:avLst>
          </a:prstGeom>
          <a:solidFill>
            <a:srgbClr val="FBFAF6"/>
          </a:solidFill>
          <a:ln w="6350">
            <a:solidFill>
              <a:srgbClr val="DDD7CA"/>
            </a:solidFill>
            <a:prstDash val="solid"/>
          </a:ln>
        </p:spPr>
      </p:sp>
      <p:sp>
        <p:nvSpPr>
          <p:cNvPr id="5" name="Text 3"/>
          <p:cNvSpPr/>
          <p:nvPr/>
        </p:nvSpPr>
        <p:spPr>
          <a:xfrm>
            <a:off x="1020233" y="2061567"/>
            <a:ext cx="30609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Product Owner</a:t>
            </a:r>
            <a:endParaRPr lang="en-US" sz="1600" dirty="0"/>
          </a:p>
        </p:txBody>
      </p:sp>
      <p:sp>
        <p:nvSpPr>
          <p:cNvPr id="6" name="Text 4"/>
          <p:cNvSpPr/>
          <p:nvPr/>
        </p:nvSpPr>
        <p:spPr>
          <a:xfrm>
            <a:off x="1020233" y="2406985"/>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Testledaren behöver</a:t>
            </a:r>
            <a:endParaRPr lang="en-US" sz="1200" dirty="0"/>
          </a:p>
        </p:txBody>
      </p:sp>
      <p:sp>
        <p:nvSpPr>
          <p:cNvPr id="7" name="Text 5"/>
          <p:cNvSpPr/>
          <p:nvPr/>
        </p:nvSpPr>
        <p:spPr>
          <a:xfrm>
            <a:off x="1020233" y="2721905"/>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Tydliga acceptanskriterier och prioritering av buggar.</a:t>
            </a:r>
            <a:endParaRPr lang="en-US" sz="1200" dirty="0"/>
          </a:p>
        </p:txBody>
      </p:sp>
      <p:sp>
        <p:nvSpPr>
          <p:cNvPr id="8" name="Text 6"/>
          <p:cNvSpPr/>
          <p:nvPr/>
        </p:nvSpPr>
        <p:spPr>
          <a:xfrm>
            <a:off x="1020233" y="3250146"/>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De behöver</a:t>
            </a:r>
            <a:endParaRPr lang="en-US" sz="1200" dirty="0"/>
          </a:p>
        </p:txBody>
      </p:sp>
      <p:sp>
        <p:nvSpPr>
          <p:cNvPr id="9" name="Text 7"/>
          <p:cNvSpPr/>
          <p:nvPr/>
        </p:nvSpPr>
        <p:spPr>
          <a:xfrm>
            <a:off x="1020233" y="3565066"/>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Löpande teststatus, riskrapporter och underlag för Go/No-Go.</a:t>
            </a:r>
            <a:endParaRPr lang="en-US" sz="1200" dirty="0"/>
          </a:p>
        </p:txBody>
      </p:sp>
      <p:sp>
        <p:nvSpPr>
          <p:cNvPr id="10" name="Shape 8"/>
          <p:cNvSpPr/>
          <p:nvPr/>
        </p:nvSpPr>
        <p:spPr>
          <a:xfrm>
            <a:off x="4405842" y="1857313"/>
            <a:ext cx="3380317" cy="2338652"/>
          </a:xfrm>
          <a:prstGeom prst="roundRect">
            <a:avLst>
              <a:gd name="adj" fmla="val 4209"/>
            </a:avLst>
          </a:prstGeom>
          <a:solidFill>
            <a:srgbClr val="FBFAF6"/>
          </a:solidFill>
          <a:ln w="6350">
            <a:solidFill>
              <a:srgbClr val="DDD7CA"/>
            </a:solidFill>
            <a:prstDash val="solid"/>
          </a:ln>
        </p:spPr>
      </p:sp>
      <p:sp>
        <p:nvSpPr>
          <p:cNvPr id="11" name="Text 9"/>
          <p:cNvSpPr/>
          <p:nvPr/>
        </p:nvSpPr>
        <p:spPr>
          <a:xfrm>
            <a:off x="4610100" y="2061567"/>
            <a:ext cx="30609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De tre utvecklingsteamen</a:t>
            </a:r>
            <a:endParaRPr lang="en-US" sz="1600" dirty="0"/>
          </a:p>
        </p:txBody>
      </p:sp>
      <p:sp>
        <p:nvSpPr>
          <p:cNvPr id="12" name="Text 10"/>
          <p:cNvSpPr/>
          <p:nvPr/>
        </p:nvSpPr>
        <p:spPr>
          <a:xfrm>
            <a:off x="4610100" y="2406985"/>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Testledaren behöver</a:t>
            </a:r>
            <a:endParaRPr lang="en-US" sz="1200" dirty="0"/>
          </a:p>
        </p:txBody>
      </p:sp>
      <p:sp>
        <p:nvSpPr>
          <p:cNvPr id="13" name="Text 11"/>
          <p:cNvSpPr/>
          <p:nvPr/>
        </p:nvSpPr>
        <p:spPr>
          <a:xfrm>
            <a:off x="4610100" y="2721905"/>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Stabila byggen i testmiljön, enhetstester och API-dokumentation.</a:t>
            </a:r>
            <a:endParaRPr lang="en-US" sz="1200" dirty="0"/>
          </a:p>
        </p:txBody>
      </p:sp>
      <p:sp>
        <p:nvSpPr>
          <p:cNvPr id="14" name="Text 12"/>
          <p:cNvSpPr/>
          <p:nvPr/>
        </p:nvSpPr>
        <p:spPr>
          <a:xfrm>
            <a:off x="4610100" y="3250146"/>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De behöver</a:t>
            </a:r>
            <a:endParaRPr lang="en-US" sz="1200" dirty="0"/>
          </a:p>
        </p:txBody>
      </p:sp>
      <p:sp>
        <p:nvSpPr>
          <p:cNvPr id="15" name="Text 13"/>
          <p:cNvSpPr/>
          <p:nvPr/>
        </p:nvSpPr>
        <p:spPr>
          <a:xfrm>
            <a:off x="4610100" y="3565066"/>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Tydliga felrapporter med reproduktionssteg och loggar.</a:t>
            </a:r>
            <a:endParaRPr lang="en-US" sz="1200" dirty="0"/>
          </a:p>
        </p:txBody>
      </p:sp>
      <p:sp>
        <p:nvSpPr>
          <p:cNvPr id="16" name="Shape 14"/>
          <p:cNvSpPr/>
          <p:nvPr/>
        </p:nvSpPr>
        <p:spPr>
          <a:xfrm>
            <a:off x="7995709" y="1857313"/>
            <a:ext cx="3380317" cy="2338652"/>
          </a:xfrm>
          <a:prstGeom prst="roundRect">
            <a:avLst>
              <a:gd name="adj" fmla="val 4209"/>
            </a:avLst>
          </a:prstGeom>
          <a:solidFill>
            <a:srgbClr val="FBFAF6"/>
          </a:solidFill>
          <a:ln w="6350">
            <a:solidFill>
              <a:srgbClr val="DDD7CA"/>
            </a:solidFill>
            <a:prstDash val="solid"/>
          </a:ln>
        </p:spPr>
      </p:sp>
      <p:sp>
        <p:nvSpPr>
          <p:cNvPr id="17" name="Text 15"/>
          <p:cNvSpPr/>
          <p:nvPr/>
        </p:nvSpPr>
        <p:spPr>
          <a:xfrm>
            <a:off x="8199967" y="2061567"/>
            <a:ext cx="30609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32B"/>
                </a:solidFill>
                <a:latin typeface="Space Grotesk" pitchFamily="34" charset="0"/>
                <a:ea typeface="Space Grotesk" pitchFamily="34" charset="-122"/>
                <a:cs typeface="Space Grotesk" pitchFamily="34" charset="-120"/>
              </a:rPr>
              <a:t>Externa leverantörer</a:t>
            </a:r>
            <a:endParaRPr lang="en-US" sz="1600" dirty="0"/>
          </a:p>
        </p:txBody>
      </p:sp>
      <p:sp>
        <p:nvSpPr>
          <p:cNvPr id="18" name="Text 16"/>
          <p:cNvSpPr/>
          <p:nvPr/>
        </p:nvSpPr>
        <p:spPr>
          <a:xfrm>
            <a:off x="8199967" y="2406985"/>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Testledaren behöver</a:t>
            </a:r>
            <a:endParaRPr lang="en-US" sz="1200" dirty="0"/>
          </a:p>
        </p:txBody>
      </p:sp>
      <p:sp>
        <p:nvSpPr>
          <p:cNvPr id="19" name="Text 17"/>
          <p:cNvSpPr/>
          <p:nvPr/>
        </p:nvSpPr>
        <p:spPr>
          <a:xfrm>
            <a:off x="8199967" y="2721905"/>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Tillgång till testmiljöer, testdata (t.ex. testkort) och support.</a:t>
            </a:r>
            <a:endParaRPr lang="en-US" sz="1200" dirty="0"/>
          </a:p>
        </p:txBody>
      </p:sp>
      <p:sp>
        <p:nvSpPr>
          <p:cNvPr id="20" name="Text 18"/>
          <p:cNvSpPr/>
          <p:nvPr/>
        </p:nvSpPr>
        <p:spPr>
          <a:xfrm>
            <a:off x="8199967" y="3250146"/>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31F"/>
                </a:solidFill>
                <a:latin typeface="IBM Plex Sans" pitchFamily="34" charset="0"/>
                <a:ea typeface="IBM Plex Sans" pitchFamily="34" charset="-122"/>
                <a:cs typeface="IBM Plex Sans" pitchFamily="34" charset="-120"/>
              </a:rPr>
              <a:t>De behöver</a:t>
            </a:r>
            <a:endParaRPr lang="en-US" sz="1200" dirty="0"/>
          </a:p>
        </p:txBody>
      </p:sp>
      <p:sp>
        <p:nvSpPr>
          <p:cNvPr id="21" name="Text 19"/>
          <p:cNvSpPr/>
          <p:nvPr/>
        </p:nvSpPr>
        <p:spPr>
          <a:xfrm>
            <a:off x="8199967" y="3565066"/>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Besked om planerade belastningstester och större ändringar i integrationen.</a:t>
            </a:r>
            <a:endParaRPr lang="en-US" sz="1200" dirty="0"/>
          </a:p>
        </p:txBody>
      </p:sp>
      <p:sp>
        <p:nvSpPr>
          <p:cNvPr id="22" name="Text 20"/>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23" name="Text 21"/>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5 · RISKER</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Lagersystemet är vår största risk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03338"/>
          <a:ext cx="10566400" cy="2575322"/>
        </p:xfrm>
        <a:graphic>
          <a:graphicData uri="http://schemas.openxmlformats.org/drawingml/2006/table">
            <a:tbl>
              <a:tblPr/>
              <a:tblGrid>
                <a:gridCol w="6403879"/>
                <a:gridCol w="1387507"/>
                <a:gridCol w="1387507"/>
                <a:gridCol w="1387507"/>
              </a:tblGrid>
              <a:tr h="429220">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Sannolikhet</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Konsekvens</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c>
                  <a:txBody>
                    <a:bodyPr/>
                    <a:lstStyle/>
                    <a:p>
                      <a:pPr indent="0" marL="0">
                        <a:lnSpc>
                          <a:spcPts val="1680"/>
                        </a:lnSpc>
                        <a:buNone/>
                      </a:pPr>
                      <a:r>
                        <a:rPr lang="en-US" sz="1200" b="1" dirty="0">
                          <a:solidFill>
                            <a:srgbClr val="14232B"/>
                          </a:solidFill>
                          <a:latin typeface="IBM Plex Sans" pitchFamily="34" charset="0"/>
                          <a:ea typeface="IBM Plex Sans" pitchFamily="34" charset="-122"/>
                          <a:cs typeface="IBM Plex Sans" pitchFamily="34" charset="-120"/>
                        </a:rPr>
                        <a:t>Risknivå</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solidFill>
                      <a:srgbClr val="E1E0D9"/>
                    </a:solidFill>
                  </a:tcPr>
                </a:tc>
              </a:tr>
              <a:tr h="4292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1. Det 15 år gamla lagersystemet klarar inte integrationen eller prestandan</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Kritisk</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4292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2. Tre utvecklingsteam krockar i den gemensamma testmiljön</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4292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3. Betalningsleverantörens testmiljö är instabil eller nere</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4292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4. Kunder debiteras dubbelt vid nätverksavbrott (K5)</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Låg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B2431F"/>
                          </a:solidFill>
                          <a:latin typeface="IBM Plex Sans" pitchFamily="34" charset="0"/>
                          <a:ea typeface="IBM Plex Sans" pitchFamily="34" charset="-122"/>
                          <a:cs typeface="IBM Plex Sans" pitchFamily="34" charset="-120"/>
                        </a:rPr>
                        <a:t>Hög</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r h="429220">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5. Rabattkoder kombineras felaktigt så att varor blir gratis (K4)</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14232B"/>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c>
                  <a:txBody>
                    <a:bodyPr/>
                    <a:lstStyle/>
                    <a:p>
                      <a:pPr indent="0" marL="0">
                        <a:lnSpc>
                          <a:spcPts val="1680"/>
                        </a:lnSpc>
                        <a:buNone/>
                      </a:pPr>
                      <a:r>
                        <a:rPr lang="en-US" sz="1200" dirty="0">
                          <a:solidFill>
                            <a:srgbClr val="8A6212"/>
                          </a:solidFill>
                          <a:latin typeface="IBM Plex Sans" pitchFamily="34" charset="0"/>
                          <a:ea typeface="IBM Plex Sans" pitchFamily="34" charset="-122"/>
                          <a:cs typeface="IBM Plex Sans" pitchFamily="34" charset="-120"/>
                        </a:rPr>
                        <a:t>Medel</a:t>
                      </a:r>
                      <a:endParaRPr lang="en-US" sz="1200" dirty="0">
                        <a:latin typeface="IBM Plex Sans" charset="0"/>
                        <a:ea typeface="IBM Plex Sans" charset="0"/>
                        <a:cs typeface="IBM Plex Sans" charset="0"/>
                      </a:endParaRPr>
                    </a:p>
                  </a:txBody>
                  <a:tcPr marL="101600" marR="101600" marT="101600" marB="101600" anchor="t">
                    <a:lnL w="12700" cap="flat" cmpd="sng" algn="ctr">
                      <a:solidFill>
                        <a:srgbClr val="C2C3BE"/>
                      </a:solidFill>
                      <a:prstDash val="solid"/>
                      <a:round/>
                      <a:headEnd type="none" w="med" len="med"/>
                      <a:tailEnd type="none" w="med" len="med"/>
                    </a:lnL>
                    <a:lnR w="12700" cap="flat" cmpd="sng" algn="ctr">
                      <a:solidFill>
                        <a:srgbClr val="C2C3BE"/>
                      </a:solidFill>
                      <a:prstDash val="solid"/>
                      <a:round/>
                      <a:headEnd type="none" w="med" len="med"/>
                      <a:tailEnd type="none" w="med" len="med"/>
                    </a:lnR>
                    <a:lnT w="12700" cap="flat" cmpd="sng" algn="ctr">
                      <a:solidFill>
                        <a:srgbClr val="C2C3BE"/>
                      </a:solidFill>
                      <a:prstDash val="solid"/>
                      <a:round/>
                      <a:headEnd type="none" w="med" len="med"/>
                      <a:tailEnd type="none" w="med" len="med"/>
                    </a:lnT>
                    <a:lnB w="12700" cap="flat" cmpd="sng" algn="ctr">
                      <a:solidFill>
                        <a:srgbClr val="C2C3BE"/>
                      </a:solidFill>
                      <a:prstDash val="solid"/>
                      <a:round/>
                      <a:headEnd type="none" w="med" len="med"/>
                      <a:tailEnd type="none" w="med" len="med"/>
                    </a:lnB>
                  </a:tcPr>
                </a:tc>
              </a:tr>
            </a:tbl>
          </a:graphicData>
        </a:graphic>
      </p:graphicFrame>
      <p:sp>
        <p:nvSpPr>
          <p:cNvPr id="5" name="Text 2"/>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6" name="Text 3"/>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E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5 · TESTÅTGÄRDER</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Så möter vi riskerna i testarbetet</a:t>
            </a:r>
            <a:endParaRPr lang="en-US" sz="3200" dirty="0"/>
          </a:p>
        </p:txBody>
      </p:sp>
      <p:sp>
        <p:nvSpPr>
          <p:cNvPr id="4" name="Shape 2"/>
          <p:cNvSpPr/>
          <p:nvPr/>
        </p:nvSpPr>
        <p:spPr>
          <a:xfrm>
            <a:off x="812800" y="1809688"/>
            <a:ext cx="10566400" cy="0"/>
          </a:xfrm>
          <a:prstGeom prst="line">
            <a:avLst/>
          </a:prstGeom>
          <a:noFill/>
          <a:ln w="12700">
            <a:solidFill>
              <a:srgbClr val="14232B"/>
            </a:solidFill>
            <a:prstDash val="solid"/>
          </a:ln>
        </p:spPr>
      </p:sp>
      <p:sp>
        <p:nvSpPr>
          <p:cNvPr id="5" name="Text 3"/>
          <p:cNvSpPr/>
          <p:nvPr/>
        </p:nvSpPr>
        <p:spPr>
          <a:xfrm>
            <a:off x="812800" y="1943038"/>
            <a:ext cx="34010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1 · Lagersystemet</a:t>
            </a:r>
            <a:endParaRPr lang="en-US" sz="1400" dirty="0"/>
          </a:p>
        </p:txBody>
      </p:sp>
      <p:sp>
        <p:nvSpPr>
          <p:cNvPr id="6" name="Text 4"/>
          <p:cNvSpPr/>
          <p:nvPr/>
        </p:nvSpPr>
        <p:spPr>
          <a:xfrm>
            <a:off x="4114800" y="1943038"/>
            <a:ext cx="748233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Tidiga integrationstester (API/meddelandeköer) och dedikerade prestandatester.</a:t>
            </a:r>
            <a:endParaRPr lang="en-US" sz="1400" dirty="0"/>
          </a:p>
        </p:txBody>
      </p:sp>
      <p:sp>
        <p:nvSpPr>
          <p:cNvPr id="7" name="Shape 5"/>
          <p:cNvSpPr/>
          <p:nvPr/>
        </p:nvSpPr>
        <p:spPr>
          <a:xfrm>
            <a:off x="812800" y="2322116"/>
            <a:ext cx="10566400" cy="0"/>
          </a:xfrm>
          <a:prstGeom prst="line">
            <a:avLst/>
          </a:prstGeom>
          <a:noFill/>
          <a:ln w="6350">
            <a:solidFill>
              <a:srgbClr val="C9D3D0"/>
            </a:solidFill>
            <a:prstDash val="solid"/>
          </a:ln>
        </p:spPr>
      </p:sp>
      <p:sp>
        <p:nvSpPr>
          <p:cNvPr id="8" name="Text 6"/>
          <p:cNvSpPr/>
          <p:nvPr/>
        </p:nvSpPr>
        <p:spPr>
          <a:xfrm>
            <a:off x="812800" y="2450176"/>
            <a:ext cx="34010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2 · Gemensam testmiljö</a:t>
            </a:r>
            <a:endParaRPr lang="en-US" sz="1400" dirty="0"/>
          </a:p>
        </p:txBody>
      </p:sp>
      <p:sp>
        <p:nvSpPr>
          <p:cNvPr id="9" name="Text 7"/>
          <p:cNvSpPr/>
          <p:nvPr/>
        </p:nvSpPr>
        <p:spPr>
          <a:xfrm>
            <a:off x="4114800" y="2450176"/>
            <a:ext cx="748233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Releaseschema för miljön, CI/CD och röktester vid varje driftsättning.</a:t>
            </a:r>
            <a:endParaRPr lang="en-US" sz="1400" dirty="0"/>
          </a:p>
        </p:txBody>
      </p:sp>
      <p:sp>
        <p:nvSpPr>
          <p:cNvPr id="10" name="Shape 8"/>
          <p:cNvSpPr/>
          <p:nvPr/>
        </p:nvSpPr>
        <p:spPr>
          <a:xfrm>
            <a:off x="812800" y="2829260"/>
            <a:ext cx="10566400" cy="0"/>
          </a:xfrm>
          <a:prstGeom prst="line">
            <a:avLst/>
          </a:prstGeom>
          <a:noFill/>
          <a:ln w="6350">
            <a:solidFill>
              <a:srgbClr val="C9D3D0"/>
            </a:solidFill>
            <a:prstDash val="solid"/>
          </a:ln>
        </p:spPr>
      </p:sp>
      <p:sp>
        <p:nvSpPr>
          <p:cNvPr id="11" name="Text 9"/>
          <p:cNvSpPr/>
          <p:nvPr/>
        </p:nvSpPr>
        <p:spPr>
          <a:xfrm>
            <a:off x="812800" y="2957314"/>
            <a:ext cx="34010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3 · Betalningens testmiljö</a:t>
            </a:r>
            <a:endParaRPr lang="en-US" sz="1400" dirty="0"/>
          </a:p>
        </p:txBody>
      </p:sp>
      <p:sp>
        <p:nvSpPr>
          <p:cNvPr id="12" name="Text 10"/>
          <p:cNvSpPr/>
          <p:nvPr/>
        </p:nvSpPr>
        <p:spPr>
          <a:xfrm>
            <a:off x="4114800" y="2957314"/>
            <a:ext cx="748233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Mockar av betalflödet så att interna tester kan fortsätta oberoende av leverantören.</a:t>
            </a:r>
            <a:endParaRPr lang="en-US" sz="1400" dirty="0"/>
          </a:p>
        </p:txBody>
      </p:sp>
      <p:sp>
        <p:nvSpPr>
          <p:cNvPr id="13" name="Shape 11"/>
          <p:cNvSpPr/>
          <p:nvPr/>
        </p:nvSpPr>
        <p:spPr>
          <a:xfrm>
            <a:off x="812800" y="3336398"/>
            <a:ext cx="10566400" cy="0"/>
          </a:xfrm>
          <a:prstGeom prst="line">
            <a:avLst/>
          </a:prstGeom>
          <a:noFill/>
          <a:ln w="6350">
            <a:solidFill>
              <a:srgbClr val="C9D3D0"/>
            </a:solidFill>
            <a:prstDash val="solid"/>
          </a:ln>
        </p:spPr>
      </p:sp>
      <p:sp>
        <p:nvSpPr>
          <p:cNvPr id="14" name="Text 12"/>
          <p:cNvSpPr/>
          <p:nvPr/>
        </p:nvSpPr>
        <p:spPr>
          <a:xfrm>
            <a:off x="812800" y="3464458"/>
            <a:ext cx="34010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4 · Dubbeldebitering</a:t>
            </a:r>
            <a:endParaRPr lang="en-US" sz="1400" dirty="0"/>
          </a:p>
        </p:txBody>
      </p:sp>
      <p:sp>
        <p:nvSpPr>
          <p:cNvPr id="15" name="Text 13"/>
          <p:cNvSpPr/>
          <p:nvPr/>
        </p:nvSpPr>
        <p:spPr>
          <a:xfrm>
            <a:off x="4114800" y="3464458"/>
            <a:ext cx="748233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Negativa tester: bryt nätverket mitt i betalningen och verifiera hanteringen.</a:t>
            </a:r>
            <a:endParaRPr lang="en-US" sz="1400" dirty="0"/>
          </a:p>
        </p:txBody>
      </p:sp>
      <p:sp>
        <p:nvSpPr>
          <p:cNvPr id="16" name="Shape 14"/>
          <p:cNvSpPr/>
          <p:nvPr/>
        </p:nvSpPr>
        <p:spPr>
          <a:xfrm>
            <a:off x="812800" y="3843536"/>
            <a:ext cx="10566400" cy="0"/>
          </a:xfrm>
          <a:prstGeom prst="line">
            <a:avLst/>
          </a:prstGeom>
          <a:noFill/>
          <a:ln w="6350">
            <a:solidFill>
              <a:srgbClr val="C9D3D0"/>
            </a:solidFill>
            <a:prstDash val="solid"/>
          </a:ln>
        </p:spPr>
      </p:sp>
      <p:sp>
        <p:nvSpPr>
          <p:cNvPr id="17" name="Shape 15"/>
          <p:cNvSpPr/>
          <p:nvPr/>
        </p:nvSpPr>
        <p:spPr>
          <a:xfrm>
            <a:off x="812800" y="4348559"/>
            <a:ext cx="10566400" cy="0"/>
          </a:xfrm>
          <a:prstGeom prst="line">
            <a:avLst/>
          </a:prstGeom>
          <a:noFill/>
          <a:ln w="6350">
            <a:solidFill>
              <a:srgbClr val="C9D3D0"/>
            </a:solidFill>
            <a:prstDash val="solid"/>
          </a:ln>
        </p:spPr>
      </p:sp>
      <p:sp>
        <p:nvSpPr>
          <p:cNvPr id="18" name="Text 16"/>
          <p:cNvSpPr/>
          <p:nvPr/>
        </p:nvSpPr>
        <p:spPr>
          <a:xfrm>
            <a:off x="812800" y="3971596"/>
            <a:ext cx="34010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2B"/>
                </a:solidFill>
                <a:latin typeface="IBM Plex Sans" pitchFamily="34" charset="0"/>
                <a:ea typeface="IBM Plex Sans" pitchFamily="34" charset="-122"/>
                <a:cs typeface="IBM Plex Sans" pitchFamily="34" charset="-120"/>
              </a:rPr>
              <a:t>5 · Rabattkoder</a:t>
            </a:r>
            <a:endParaRPr lang="en-US" sz="1400" dirty="0"/>
          </a:p>
        </p:txBody>
      </p:sp>
      <p:sp>
        <p:nvSpPr>
          <p:cNvPr id="19" name="Text 17"/>
          <p:cNvSpPr/>
          <p:nvPr/>
        </p:nvSpPr>
        <p:spPr>
          <a:xfrm>
            <a:off x="4114800" y="3971596"/>
            <a:ext cx="748233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Testmatris med ekvivalensklassindelning för alla rabattkombinationer.</a:t>
            </a:r>
            <a:endParaRPr lang="en-US" sz="1400" dirty="0"/>
          </a:p>
        </p:txBody>
      </p:sp>
      <p:sp>
        <p:nvSpPr>
          <p:cNvPr id="20" name="Text 18"/>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21" name="Text 19"/>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31F"/>
                </a:solidFill>
                <a:latin typeface="IBM Plex Sans" pitchFamily="34" charset="0"/>
                <a:ea typeface="IBM Plex Sans" pitchFamily="34" charset="-122"/>
                <a:cs typeface="IBM Plex Sans" pitchFamily="34" charset="-120"/>
              </a:rPr>
              <a:t>6 · FRÅGOR TILL PROJEKTET</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32B"/>
                </a:solidFill>
                <a:latin typeface="Space Grotesk" pitchFamily="34" charset="0"/>
                <a:ea typeface="Space Grotesk" pitchFamily="34" charset="-122"/>
                <a:cs typeface="Space Grotesk" pitchFamily="34" charset="-120"/>
              </a:rPr>
              <a:t>Det vi behöver veta innan teststrategin</a:t>
            </a:r>
            <a:endParaRPr lang="en-US" sz="3200" dirty="0"/>
          </a:p>
        </p:txBody>
      </p:sp>
      <p:sp>
        <p:nvSpPr>
          <p:cNvPr id="4" name="Shape 2"/>
          <p:cNvSpPr/>
          <p:nvPr/>
        </p:nvSpPr>
        <p:spPr>
          <a:xfrm>
            <a:off x="812800" y="1809688"/>
            <a:ext cx="10566400" cy="0"/>
          </a:xfrm>
          <a:prstGeom prst="line">
            <a:avLst/>
          </a:prstGeom>
          <a:noFill/>
          <a:ln w="12700">
            <a:solidFill>
              <a:srgbClr val="14232B"/>
            </a:solidFill>
            <a:prstDash val="solid"/>
          </a:ln>
        </p:spPr>
      </p:sp>
      <p:sp>
        <p:nvSpPr>
          <p:cNvPr id="5" name="Text 3"/>
          <p:cNvSpPr/>
          <p:nvPr/>
        </p:nvSpPr>
        <p:spPr>
          <a:xfrm>
            <a:off x="812800" y="1930338"/>
            <a:ext cx="23545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31F"/>
                </a:solidFill>
                <a:latin typeface="IBM Plex Sans" pitchFamily="34" charset="0"/>
                <a:ea typeface="IBM Plex Sans" pitchFamily="34" charset="-122"/>
                <a:cs typeface="IBM Plex Sans" pitchFamily="34" charset="-120"/>
              </a:rPr>
              <a:t>Testdata</a:t>
            </a:r>
            <a:endParaRPr lang="en-US" sz="1400" dirty="0"/>
          </a:p>
        </p:txBody>
      </p:sp>
      <p:sp>
        <p:nvSpPr>
          <p:cNvPr id="6" name="Text 4"/>
          <p:cNvSpPr/>
          <p:nvPr/>
        </p:nvSpPr>
        <p:spPr>
          <a:xfrm>
            <a:off x="3098800" y="1930338"/>
            <a:ext cx="85288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2B"/>
                </a:solidFill>
                <a:latin typeface="IBM Plex Sans" pitchFamily="34" charset="0"/>
                <a:ea typeface="IBM Plex Sans" pitchFamily="34" charset="-122"/>
                <a:cs typeface="IBM Plex Sans" pitchFamily="34" charset="-120"/>
              </a:rPr>
              <a:t>Hur säkrar vi realistisk testdata för produkter, priser och lagersaldon i den gemensamma miljön?</a:t>
            </a:r>
            <a:endParaRPr lang="en-US" sz="1400" dirty="0"/>
          </a:p>
        </p:txBody>
      </p:sp>
      <p:sp>
        <p:nvSpPr>
          <p:cNvPr id="7" name="Shape 5"/>
          <p:cNvSpPr/>
          <p:nvPr/>
        </p:nvSpPr>
        <p:spPr>
          <a:xfrm>
            <a:off x="812800" y="2296716"/>
            <a:ext cx="10566400" cy="0"/>
          </a:xfrm>
          <a:prstGeom prst="line">
            <a:avLst/>
          </a:prstGeom>
          <a:noFill/>
          <a:ln w="6350">
            <a:solidFill>
              <a:srgbClr val="D8D2C4"/>
            </a:solidFill>
            <a:prstDash val="solid"/>
          </a:ln>
        </p:spPr>
      </p:sp>
      <p:sp>
        <p:nvSpPr>
          <p:cNvPr id="8" name="Text 6"/>
          <p:cNvSpPr/>
          <p:nvPr/>
        </p:nvSpPr>
        <p:spPr>
          <a:xfrm>
            <a:off x="812800" y="2412076"/>
            <a:ext cx="23545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31F"/>
                </a:solidFill>
                <a:latin typeface="IBM Plex Sans" pitchFamily="34" charset="0"/>
                <a:ea typeface="IBM Plex Sans" pitchFamily="34" charset="-122"/>
                <a:cs typeface="IBM Plex Sans" pitchFamily="34" charset="-120"/>
              </a:rPr>
              <a:t>Prestanda</a:t>
            </a:r>
            <a:endParaRPr lang="en-US" sz="1400" dirty="0"/>
          </a:p>
        </p:txBody>
      </p:sp>
      <p:sp>
        <p:nvSpPr>
          <p:cNvPr id="9" name="Text 7"/>
          <p:cNvSpPr/>
          <p:nvPr/>
        </p:nvSpPr>
        <p:spPr>
          <a:xfrm>
            <a:off x="3098800" y="2412076"/>
            <a:ext cx="85288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2B"/>
                </a:solidFill>
                <a:latin typeface="IBM Plex Sans" pitchFamily="34" charset="0"/>
                <a:ea typeface="IBM Plex Sans" pitchFamily="34" charset="-122"/>
                <a:cs typeface="IBM Plex Sans" pitchFamily="34" charset="-120"/>
              </a:rPr>
              <a:t>Vad betyder "snabbare orderhantering" i siffror, och hur många samtidiga användare ska vi klara?</a:t>
            </a:r>
            <a:endParaRPr lang="en-US" sz="1400" dirty="0"/>
          </a:p>
        </p:txBody>
      </p:sp>
      <p:sp>
        <p:nvSpPr>
          <p:cNvPr id="10" name="Shape 8"/>
          <p:cNvSpPr/>
          <p:nvPr/>
        </p:nvSpPr>
        <p:spPr>
          <a:xfrm>
            <a:off x="812800" y="2778460"/>
            <a:ext cx="10566400" cy="0"/>
          </a:xfrm>
          <a:prstGeom prst="line">
            <a:avLst/>
          </a:prstGeom>
          <a:noFill/>
          <a:ln w="6350">
            <a:solidFill>
              <a:srgbClr val="D8D2C4"/>
            </a:solidFill>
            <a:prstDash val="solid"/>
          </a:ln>
        </p:spPr>
      </p:sp>
      <p:sp>
        <p:nvSpPr>
          <p:cNvPr id="11" name="Text 9"/>
          <p:cNvSpPr/>
          <p:nvPr/>
        </p:nvSpPr>
        <p:spPr>
          <a:xfrm>
            <a:off x="812800" y="2893814"/>
            <a:ext cx="23545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31F"/>
                </a:solidFill>
                <a:latin typeface="IBM Plex Sans" pitchFamily="34" charset="0"/>
                <a:ea typeface="IBM Plex Sans" pitchFamily="34" charset="-122"/>
                <a:cs typeface="IBM Plex Sans" pitchFamily="34" charset="-120"/>
              </a:rPr>
              <a:t>Säkerhet</a:t>
            </a:r>
            <a:endParaRPr lang="en-US" sz="1400" dirty="0"/>
          </a:p>
        </p:txBody>
      </p:sp>
      <p:sp>
        <p:nvSpPr>
          <p:cNvPr id="12" name="Text 10"/>
          <p:cNvSpPr/>
          <p:nvPr/>
        </p:nvSpPr>
        <p:spPr>
          <a:xfrm>
            <a:off x="3098800" y="2893814"/>
            <a:ext cx="85288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2B"/>
                </a:solidFill>
                <a:latin typeface="IBM Plex Sans" pitchFamily="34" charset="0"/>
                <a:ea typeface="IBM Plex Sans" pitchFamily="34" charset="-122"/>
                <a:cs typeface="IBM Plex Sans" pitchFamily="34" charset="-120"/>
              </a:rPr>
              <a:t>Ska en extern säkerhetsgranskning (penetrationstest) göras av kassan och kunddatabasen?</a:t>
            </a:r>
            <a:endParaRPr lang="en-US" sz="1400" dirty="0"/>
          </a:p>
        </p:txBody>
      </p:sp>
      <p:sp>
        <p:nvSpPr>
          <p:cNvPr id="13" name="Shape 11"/>
          <p:cNvSpPr/>
          <p:nvPr/>
        </p:nvSpPr>
        <p:spPr>
          <a:xfrm>
            <a:off x="812800" y="3260198"/>
            <a:ext cx="10566400" cy="0"/>
          </a:xfrm>
          <a:prstGeom prst="line">
            <a:avLst/>
          </a:prstGeom>
          <a:noFill/>
          <a:ln w="6350">
            <a:solidFill>
              <a:srgbClr val="D8D2C4"/>
            </a:solidFill>
            <a:prstDash val="solid"/>
          </a:ln>
        </p:spPr>
      </p:sp>
      <p:sp>
        <p:nvSpPr>
          <p:cNvPr id="14" name="Text 12"/>
          <p:cNvSpPr/>
          <p:nvPr/>
        </p:nvSpPr>
        <p:spPr>
          <a:xfrm>
            <a:off x="812800" y="3375558"/>
            <a:ext cx="23545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31F"/>
                </a:solidFill>
                <a:latin typeface="IBM Plex Sans" pitchFamily="34" charset="0"/>
                <a:ea typeface="IBM Plex Sans" pitchFamily="34" charset="-122"/>
                <a:cs typeface="IBM Plex Sans" pitchFamily="34" charset="-120"/>
              </a:rPr>
              <a:t>Lagersystemet</a:t>
            </a:r>
            <a:endParaRPr lang="en-US" sz="1400" dirty="0"/>
          </a:p>
        </p:txBody>
      </p:sp>
      <p:sp>
        <p:nvSpPr>
          <p:cNvPr id="15" name="Text 13"/>
          <p:cNvSpPr/>
          <p:nvPr/>
        </p:nvSpPr>
        <p:spPr>
          <a:xfrm>
            <a:off x="3098800" y="3375558"/>
            <a:ext cx="85288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2B"/>
                </a:solidFill>
                <a:latin typeface="IBM Plex Sans" pitchFamily="34" charset="0"/>
                <a:ea typeface="IBM Plex Sans" pitchFamily="34" charset="-122"/>
                <a:cs typeface="IBM Plex Sans" pitchFamily="34" charset="-120"/>
              </a:rPr>
              <a:t>Finns ett API, eller kommunicerar systemet via filöverföring eller databastabeller?</a:t>
            </a:r>
            <a:endParaRPr lang="en-US" sz="1400" dirty="0"/>
          </a:p>
        </p:txBody>
      </p:sp>
      <p:sp>
        <p:nvSpPr>
          <p:cNvPr id="16" name="Shape 14"/>
          <p:cNvSpPr/>
          <p:nvPr/>
        </p:nvSpPr>
        <p:spPr>
          <a:xfrm>
            <a:off x="812800" y="3741936"/>
            <a:ext cx="10566400" cy="0"/>
          </a:xfrm>
          <a:prstGeom prst="line">
            <a:avLst/>
          </a:prstGeom>
          <a:noFill/>
          <a:ln w="6350">
            <a:solidFill>
              <a:srgbClr val="D8D2C4"/>
            </a:solidFill>
            <a:prstDash val="solid"/>
          </a:ln>
        </p:spPr>
      </p:sp>
      <p:sp>
        <p:nvSpPr>
          <p:cNvPr id="17" name="Shape 15"/>
          <p:cNvSpPr/>
          <p:nvPr/>
        </p:nvSpPr>
        <p:spPr>
          <a:xfrm>
            <a:off x="812800" y="4221559"/>
            <a:ext cx="10566400" cy="0"/>
          </a:xfrm>
          <a:prstGeom prst="line">
            <a:avLst/>
          </a:prstGeom>
          <a:noFill/>
          <a:ln w="6350">
            <a:solidFill>
              <a:srgbClr val="D8D2C4"/>
            </a:solidFill>
            <a:prstDash val="solid"/>
          </a:ln>
        </p:spPr>
      </p:sp>
      <p:sp>
        <p:nvSpPr>
          <p:cNvPr id="18" name="Text 16"/>
          <p:cNvSpPr/>
          <p:nvPr/>
        </p:nvSpPr>
        <p:spPr>
          <a:xfrm>
            <a:off x="812800" y="3857296"/>
            <a:ext cx="23545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31F"/>
                </a:solidFill>
                <a:latin typeface="IBM Plex Sans" pitchFamily="34" charset="0"/>
                <a:ea typeface="IBM Plex Sans" pitchFamily="34" charset="-122"/>
                <a:cs typeface="IBM Plex Sans" pitchFamily="34" charset="-120"/>
              </a:rPr>
              <a:t>Scope</a:t>
            </a:r>
            <a:endParaRPr lang="en-US" sz="1400" dirty="0"/>
          </a:p>
        </p:txBody>
      </p:sp>
      <p:sp>
        <p:nvSpPr>
          <p:cNvPr id="19" name="Text 17"/>
          <p:cNvSpPr/>
          <p:nvPr/>
        </p:nvSpPr>
        <p:spPr>
          <a:xfrm>
            <a:off x="3098800" y="3857296"/>
            <a:ext cx="85288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2B"/>
                </a:solidFill>
                <a:latin typeface="IBM Plex Sans" pitchFamily="34" charset="0"/>
                <a:ea typeface="IBM Plex Sans" pitchFamily="34" charset="-122"/>
                <a:cs typeface="IBM Plex Sans" pitchFamily="34" charset="-120"/>
              </a:rPr>
              <a:t>Vilka webbläsare, operativsystem och mobila enheter ska stödjas och testas?</a:t>
            </a:r>
            <a:endParaRPr lang="en-US" sz="1400" dirty="0"/>
          </a:p>
        </p:txBody>
      </p:sp>
      <p:sp>
        <p:nvSpPr>
          <p:cNvPr id="20" name="Text 18"/>
          <p:cNvSpPr/>
          <p:nvPr/>
        </p:nvSpPr>
        <p:spPr>
          <a:xfrm>
            <a:off x="812800" y="6238280"/>
            <a:ext cx="1699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NordicShop · Testanalys</a:t>
            </a:r>
            <a:endParaRPr lang="en-US" sz="1200" dirty="0"/>
          </a:p>
        </p:txBody>
      </p:sp>
      <p:sp>
        <p:nvSpPr>
          <p:cNvPr id="21" name="Text 19"/>
          <p:cNvSpPr/>
          <p:nvPr/>
        </p:nvSpPr>
        <p:spPr>
          <a:xfrm>
            <a:off x="11196307" y="6238280"/>
            <a:ext cx="233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36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5D"/>
                </a:solidFill>
                <a:latin typeface="IBM Plex Sans" pitchFamily="34" charset="0"/>
                <a:ea typeface="IBM Plex Sans" pitchFamily="34" charset="-122"/>
                <a:cs typeface="IBM Plex Sans" pitchFamily="34" charset="-120"/>
              </a:rPr>
              <a:t>SAMMANFATTNING</a:t>
            </a:r>
            <a:endParaRPr lang="en-US" sz="1200" dirty="0"/>
          </a:p>
        </p:txBody>
      </p:sp>
      <p:sp>
        <p:nvSpPr>
          <p:cNvPr id="3" name="Text 1"/>
          <p:cNvSpPr/>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3F0E8"/>
                </a:solidFill>
                <a:latin typeface="Space Grotesk" pitchFamily="34" charset="0"/>
                <a:ea typeface="Space Grotesk" pitchFamily="34" charset="-122"/>
                <a:cs typeface="Space Grotesk" pitchFamily="34" charset="-120"/>
              </a:rPr>
              <a:t>Identifiera → prioritera → motivera</a:t>
            </a:r>
            <a:endParaRPr lang="en-US" sz="3200" dirty="0"/>
          </a:p>
        </p:txBody>
      </p:sp>
      <p:sp>
        <p:nvSpPr>
          <p:cNvPr id="4" name="Shape 2"/>
          <p:cNvSpPr/>
          <p:nvPr/>
        </p:nvSpPr>
        <p:spPr>
          <a:xfrm>
            <a:off x="812800" y="2890577"/>
            <a:ext cx="3386667" cy="0"/>
          </a:xfrm>
          <a:prstGeom prst="line">
            <a:avLst/>
          </a:prstGeom>
          <a:noFill/>
          <a:ln w="25400">
            <a:solidFill>
              <a:srgbClr val="F08A5D"/>
            </a:solidFill>
            <a:prstDash val="solid"/>
          </a:ln>
        </p:spPr>
      </p:sp>
      <p:sp>
        <p:nvSpPr>
          <p:cNvPr id="5" name="Text 3"/>
          <p:cNvSpPr/>
          <p:nvPr/>
        </p:nvSpPr>
        <p:spPr>
          <a:xfrm>
            <a:off x="812800" y="3055677"/>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0E8"/>
                </a:solidFill>
                <a:latin typeface="Space Grotesk" pitchFamily="34" charset="0"/>
                <a:ea typeface="Space Grotesk" pitchFamily="34" charset="-122"/>
                <a:cs typeface="Space Grotesk" pitchFamily="34" charset="-120"/>
              </a:rPr>
              <a:t>Identifiera</a:t>
            </a:r>
            <a:endParaRPr lang="en-US" sz="1600" dirty="0"/>
          </a:p>
        </p:txBody>
      </p:sp>
      <p:sp>
        <p:nvSpPr>
          <p:cNvPr id="6" name="Text 4"/>
          <p:cNvSpPr/>
          <p:nvPr/>
        </p:nvSpPr>
        <p:spPr>
          <a:xfrm>
            <a:off x="812800" y="3401089"/>
            <a:ext cx="3488267"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CC"/>
                </a:solidFill>
                <a:latin typeface="IBM Plex Sans" pitchFamily="34" charset="0"/>
                <a:ea typeface="IBM Plex Sans" pitchFamily="34" charset="-122"/>
                <a:cs typeface="IBM Plex Sans" pitchFamily="34" charset="-120"/>
              </a:rPr>
              <a:t>8 testobjekt, 4 kritiska flöden, 4 integrationer och 3 nyckelgrupper av stakeholders.</a:t>
            </a:r>
            <a:endParaRPr lang="en-US" sz="1400" dirty="0"/>
          </a:p>
        </p:txBody>
      </p:sp>
      <p:sp>
        <p:nvSpPr>
          <p:cNvPr id="7" name="Shape 5"/>
          <p:cNvSpPr/>
          <p:nvPr/>
        </p:nvSpPr>
        <p:spPr>
          <a:xfrm>
            <a:off x="4402667" y="2890577"/>
            <a:ext cx="3386667" cy="0"/>
          </a:xfrm>
          <a:prstGeom prst="line">
            <a:avLst/>
          </a:prstGeom>
          <a:noFill/>
          <a:ln w="25400">
            <a:solidFill>
              <a:srgbClr val="F08A5D"/>
            </a:solidFill>
            <a:prstDash val="solid"/>
          </a:ln>
        </p:spPr>
      </p:sp>
      <p:sp>
        <p:nvSpPr>
          <p:cNvPr id="8" name="Text 6"/>
          <p:cNvSpPr/>
          <p:nvPr/>
        </p:nvSpPr>
        <p:spPr>
          <a:xfrm>
            <a:off x="4402667" y="3055677"/>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0E8"/>
                </a:solidFill>
                <a:latin typeface="Space Grotesk" pitchFamily="34" charset="0"/>
                <a:ea typeface="Space Grotesk" pitchFamily="34" charset="-122"/>
                <a:cs typeface="Space Grotesk" pitchFamily="34" charset="-120"/>
              </a:rPr>
              <a:t>Prioritera</a:t>
            </a:r>
            <a:endParaRPr lang="en-US" sz="1600" dirty="0"/>
          </a:p>
        </p:txBody>
      </p:sp>
      <p:sp>
        <p:nvSpPr>
          <p:cNvPr id="9" name="Text 7"/>
          <p:cNvSpPr/>
          <p:nvPr/>
        </p:nvSpPr>
        <p:spPr>
          <a:xfrm>
            <a:off x="4402667" y="3401089"/>
            <a:ext cx="3488267"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CC"/>
                </a:solidFill>
                <a:latin typeface="IBM Plex Sans" pitchFamily="34" charset="0"/>
                <a:ea typeface="IBM Plex Sans" pitchFamily="34" charset="-122"/>
                <a:cs typeface="IBM Plex Sans" pitchFamily="34" charset="-120"/>
              </a:rPr>
              <a:t>Hög: betalning, lager, order och inloggning. Lagersystemet är den enda kritiska risken.</a:t>
            </a:r>
            <a:endParaRPr lang="en-US" sz="1400" dirty="0"/>
          </a:p>
        </p:txBody>
      </p:sp>
      <p:sp>
        <p:nvSpPr>
          <p:cNvPr id="10" name="Shape 8"/>
          <p:cNvSpPr/>
          <p:nvPr/>
        </p:nvSpPr>
        <p:spPr>
          <a:xfrm>
            <a:off x="7992534" y="2890577"/>
            <a:ext cx="3386667" cy="0"/>
          </a:xfrm>
          <a:prstGeom prst="line">
            <a:avLst/>
          </a:prstGeom>
          <a:noFill/>
          <a:ln w="25400">
            <a:solidFill>
              <a:srgbClr val="F08A5D"/>
            </a:solidFill>
            <a:prstDash val="solid"/>
          </a:ln>
        </p:spPr>
      </p:sp>
      <p:sp>
        <p:nvSpPr>
          <p:cNvPr id="11" name="Text 9"/>
          <p:cNvSpPr/>
          <p:nvPr/>
        </p:nvSpPr>
        <p:spPr>
          <a:xfrm>
            <a:off x="7992534" y="3055677"/>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0E8"/>
                </a:solidFill>
                <a:latin typeface="Space Grotesk" pitchFamily="34" charset="0"/>
                <a:ea typeface="Space Grotesk" pitchFamily="34" charset="-122"/>
                <a:cs typeface="Space Grotesk" pitchFamily="34" charset="-120"/>
              </a:rPr>
              <a:t>Motivera</a:t>
            </a:r>
            <a:endParaRPr lang="en-US" sz="1600" dirty="0"/>
          </a:p>
        </p:txBody>
      </p:sp>
      <p:sp>
        <p:nvSpPr>
          <p:cNvPr id="12" name="Text 10"/>
          <p:cNvSpPr/>
          <p:nvPr/>
        </p:nvSpPr>
        <p:spPr>
          <a:xfrm>
            <a:off x="7992534" y="3401089"/>
            <a:ext cx="3488267"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CC"/>
                </a:solidFill>
                <a:latin typeface="IBM Plex Sans" pitchFamily="34" charset="0"/>
                <a:ea typeface="IBM Plex Sans" pitchFamily="34" charset="-122"/>
                <a:cs typeface="IBM Plex Sans" pitchFamily="34" charset="-120"/>
              </a:rPr>
              <a:t>Fel i pengar, lagersaldo eller ordrar drabbar kunden direkt och kan stoppa försäljningen.</a:t>
            </a:r>
            <a:endParaRPr lang="en-US" sz="1400" dirty="0"/>
          </a:p>
        </p:txBody>
      </p:sp>
      <p:sp>
        <p:nvSpPr>
          <p:cNvPr id="13" name="Text 11"/>
          <p:cNvSpPr/>
          <p:nvPr/>
        </p:nvSpPr>
        <p:spPr>
          <a:xfrm>
            <a:off x="812800" y="5476280"/>
            <a:ext cx="1088339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08A5D"/>
                </a:solidFill>
                <a:latin typeface="Space Grotesk" pitchFamily="34" charset="0"/>
                <a:ea typeface="Space Grotesk" pitchFamily="34" charset="-122"/>
                <a:cs typeface="Space Grotesk" pitchFamily="34" charset="-120"/>
              </a:rPr>
              <a:t>Tack! Frågor?</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NordicShop – Testanalys</dc:title>
  <dc:subject>PptxGenJS Presentation</dc:subject>
  <dc:creator>PptxGenJS</dc:creator>
  <cp:lastModifiedBy>PptxGenJS</cp:lastModifiedBy>
  <cp:revision>1</cp:revision>
  <dcterms:created xsi:type="dcterms:W3CDTF">2026-09-24T09:31:50Z</dcterms:created>
  <dcterms:modified xsi:type="dcterms:W3CDTF">2026-09-24T09:31:50Z</dcterms:modified>
</cp:coreProperties>
</file>